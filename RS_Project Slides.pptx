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nton" charset="1" panose="00000500000000000000"/>
      <p:regular r:id="rId18"/>
    </p:embeddedFont>
    <p:embeddedFont>
      <p:font typeface="Agrandir Bold" charset="1" panose="00000800000000000000"/>
      <p:regular r:id="rId19"/>
    </p:embeddedFont>
    <p:embeddedFont>
      <p:font typeface="Agrandir" charset="1" panose="00000500000000000000"/>
      <p:regular r:id="rId2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4.pn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Relationship Id="rId5" Target="../media/image9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1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6.png" Type="http://schemas.openxmlformats.org/officeDocument/2006/relationships/image"/><Relationship Id="rId4" Target="../media/image17.png" Type="http://schemas.openxmlformats.org/officeDocument/2006/relationships/image"/><Relationship Id="rId5" Target="../media/image18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19.png" Type="http://schemas.openxmlformats.org/officeDocument/2006/relationships/image"/><Relationship Id="rId4" Target="../media/image20.svg" Type="http://schemas.openxmlformats.org/officeDocument/2006/relationships/image"/><Relationship Id="rId5" Target="../media/image21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.png" Type="http://schemas.openxmlformats.org/officeDocument/2006/relationships/image"/><Relationship Id="rId4" Target="../media/image22.png" Type="http://schemas.openxmlformats.org/officeDocument/2006/relationships/image"/><Relationship Id="rId5" Target="../media/image23.png" Type="http://schemas.openxmlformats.org/officeDocument/2006/relationships/image"/><Relationship Id="rId6" Target="../media/image24.png" Type="http://schemas.openxmlformats.org/officeDocument/2006/relationships/image"/><Relationship Id="rId7" Target="../media/image2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6.png" Type="http://schemas.openxmlformats.org/officeDocument/2006/relationships/image"/><Relationship Id="rId4" Target="../media/image3.png" Type="http://schemas.openxmlformats.org/officeDocument/2006/relationships/image"/><Relationship Id="rId5" Target="../media/image27.png" Type="http://schemas.openxmlformats.org/officeDocument/2006/relationships/image"/><Relationship Id="rId6" Target="../media/image2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29.png" Type="http://schemas.openxmlformats.org/officeDocument/2006/relationships/image"/><Relationship Id="rId4" Target="../media/image30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jpeg" Type="http://schemas.openxmlformats.org/officeDocument/2006/relationships/image"/><Relationship Id="rId3" Target="../media/image31.png" Type="http://schemas.openxmlformats.org/officeDocument/2006/relationships/image"/><Relationship Id="rId4" Target="../media/image32.svg" Type="http://schemas.openxmlformats.org/officeDocument/2006/relationships/image"/><Relationship Id="rId5" Target="../media/image14.png" Type="http://schemas.openxmlformats.org/officeDocument/2006/relationships/image"/><Relationship Id="rId6" Target="../media/image15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3.jpeg" Type="http://schemas.openxmlformats.org/officeDocument/2006/relationships/image"/><Relationship Id="rId3" Target="../media/image34.png" Type="http://schemas.openxmlformats.org/officeDocument/2006/relationships/image"/><Relationship Id="rId4" Target="../media/image3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2075963" y="2927299"/>
            <a:ext cx="15183337" cy="22057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566"/>
              </a:lnSpc>
            </a:pPr>
            <a:r>
              <a:rPr lang="en-US" sz="8237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NEURAL COLLABORATIVE FILTERING–BASED RECOMMENDER SYSTEM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6733357" y="1000125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RECOMMENDER SYSTEM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4967015" y="9093440"/>
            <a:ext cx="7478362" cy="6577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378"/>
              </a:lnSpc>
            </a:pPr>
            <a:r>
              <a:rPr lang="en-US" b="true" sz="228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HAMNA FATIMA  (23K-0916)</a:t>
            </a:r>
          </a:p>
          <a:p>
            <a:pPr algn="ctr">
              <a:lnSpc>
                <a:spcPts val="2378"/>
              </a:lnSpc>
              <a:spcBef>
                <a:spcPct val="0"/>
              </a:spcBef>
            </a:pPr>
            <a:r>
              <a:rPr lang="en-US" b="true" sz="2287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LAYQA FATIMA (23K-0572)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3545226">
            <a:off x="12372485" y="5143500"/>
            <a:ext cx="5877306" cy="8229600"/>
          </a:xfrm>
          <a:custGeom>
            <a:avLst/>
            <a:gdLst/>
            <a:ahLst/>
            <a:cxnLst/>
            <a:rect r="r" b="b" t="t" l="l"/>
            <a:pathLst>
              <a:path h="8229600" w="5877306">
                <a:moveTo>
                  <a:pt x="0" y="0"/>
                </a:moveTo>
                <a:lnTo>
                  <a:pt x="5877306" y="0"/>
                </a:lnTo>
                <a:lnTo>
                  <a:pt x="5877306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true" flipV="false" rot="-9440444">
            <a:off x="-1678102" y="3965928"/>
            <a:ext cx="5877306" cy="8229600"/>
          </a:xfrm>
          <a:custGeom>
            <a:avLst/>
            <a:gdLst/>
            <a:ahLst/>
            <a:cxnLst/>
            <a:rect r="r" b="b" t="t" l="l"/>
            <a:pathLst>
              <a:path h="8229600" w="5877306">
                <a:moveTo>
                  <a:pt x="5877306" y="0"/>
                </a:moveTo>
                <a:lnTo>
                  <a:pt x="0" y="0"/>
                </a:lnTo>
                <a:lnTo>
                  <a:pt x="0" y="8229600"/>
                </a:lnTo>
                <a:lnTo>
                  <a:pt x="5877306" y="8229600"/>
                </a:lnTo>
                <a:lnTo>
                  <a:pt x="5877306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3297397" y="5685772"/>
            <a:ext cx="13524333" cy="12410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52333" indent="-376166" lvl="1">
              <a:lnSpc>
                <a:spcPts val="3624"/>
              </a:lnSpc>
              <a:buFont typeface="Arial"/>
              <a:buChar char="•"/>
            </a:pPr>
            <a:r>
              <a:rPr lang="en-US" sz="34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Python | PyTorch | Neural CF</a:t>
            </a:r>
          </a:p>
          <a:p>
            <a:pPr algn="l" marL="752333" indent="-376166" lvl="1">
              <a:lnSpc>
                <a:spcPts val="3624"/>
              </a:lnSpc>
              <a:buFont typeface="Arial"/>
              <a:buChar char="•"/>
            </a:pPr>
            <a:r>
              <a:rPr lang="en-US" sz="34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Objective: Personalized recommendations using deep learning</a:t>
            </a:r>
          </a:p>
          <a:p>
            <a:pPr algn="l">
              <a:lnSpc>
                <a:spcPts val="2513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177800" y="7748836"/>
            <a:ext cx="4574135" cy="3018929"/>
          </a:xfrm>
          <a:custGeom>
            <a:avLst/>
            <a:gdLst/>
            <a:ahLst/>
            <a:cxnLst/>
            <a:rect r="r" b="b" t="t" l="l"/>
            <a:pathLst>
              <a:path h="3018929" w="4574135">
                <a:moveTo>
                  <a:pt x="0" y="0"/>
                </a:moveTo>
                <a:lnTo>
                  <a:pt x="4574135" y="0"/>
                </a:lnTo>
                <a:lnTo>
                  <a:pt x="4574135" y="3018928"/>
                </a:lnTo>
                <a:lnTo>
                  <a:pt x="0" y="3018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2269449" y="5581387"/>
            <a:ext cx="3566261" cy="1063731"/>
            <a:chOff x="0" y="0"/>
            <a:chExt cx="814650" cy="24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650" cy="242991"/>
            </a:xfrm>
            <a:custGeom>
              <a:avLst/>
              <a:gdLst/>
              <a:ahLst/>
              <a:cxnLst/>
              <a:rect r="r" b="b" t="t" l="l"/>
              <a:pathLst>
                <a:path h="242991" w="814650">
                  <a:moveTo>
                    <a:pt x="121495" y="0"/>
                  </a:moveTo>
                  <a:lnTo>
                    <a:pt x="693155" y="0"/>
                  </a:lnTo>
                  <a:cubicBezTo>
                    <a:pt x="725378" y="0"/>
                    <a:pt x="756280" y="12800"/>
                    <a:pt x="779065" y="35585"/>
                  </a:cubicBezTo>
                  <a:cubicBezTo>
                    <a:pt x="801850" y="58370"/>
                    <a:pt x="814650" y="89273"/>
                    <a:pt x="814650" y="121495"/>
                  </a:cubicBezTo>
                  <a:lnTo>
                    <a:pt x="814650" y="121495"/>
                  </a:lnTo>
                  <a:cubicBezTo>
                    <a:pt x="814650" y="153718"/>
                    <a:pt x="801850" y="184621"/>
                    <a:pt x="779065" y="207406"/>
                  </a:cubicBezTo>
                  <a:cubicBezTo>
                    <a:pt x="756280" y="230190"/>
                    <a:pt x="725378" y="242991"/>
                    <a:pt x="6931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1465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2269449" y="5581387"/>
            <a:ext cx="1162760" cy="1063731"/>
            <a:chOff x="0" y="0"/>
            <a:chExt cx="265612" cy="242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2269449" y="7628673"/>
            <a:ext cx="3566261" cy="1063731"/>
            <a:chOff x="0" y="0"/>
            <a:chExt cx="814650" cy="242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4650" cy="242991"/>
            </a:xfrm>
            <a:custGeom>
              <a:avLst/>
              <a:gdLst/>
              <a:ahLst/>
              <a:cxnLst/>
              <a:rect r="r" b="b" t="t" l="l"/>
              <a:pathLst>
                <a:path h="242991" w="814650">
                  <a:moveTo>
                    <a:pt x="121495" y="0"/>
                  </a:moveTo>
                  <a:lnTo>
                    <a:pt x="693155" y="0"/>
                  </a:lnTo>
                  <a:cubicBezTo>
                    <a:pt x="725378" y="0"/>
                    <a:pt x="756280" y="12800"/>
                    <a:pt x="779065" y="35585"/>
                  </a:cubicBezTo>
                  <a:cubicBezTo>
                    <a:pt x="801850" y="58370"/>
                    <a:pt x="814650" y="89273"/>
                    <a:pt x="814650" y="121495"/>
                  </a:cubicBezTo>
                  <a:lnTo>
                    <a:pt x="814650" y="121495"/>
                  </a:lnTo>
                  <a:cubicBezTo>
                    <a:pt x="814650" y="153718"/>
                    <a:pt x="801850" y="184621"/>
                    <a:pt x="779065" y="207406"/>
                  </a:cubicBezTo>
                  <a:cubicBezTo>
                    <a:pt x="756280" y="230190"/>
                    <a:pt x="725378" y="242991"/>
                    <a:pt x="6931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465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2269449" y="7628673"/>
            <a:ext cx="1162760" cy="1063731"/>
            <a:chOff x="0" y="0"/>
            <a:chExt cx="265612" cy="242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-488950" y="-1840703"/>
            <a:ext cx="20831283" cy="3086100"/>
            <a:chOff x="0" y="0"/>
            <a:chExt cx="5486429" cy="812800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19" id="19"/>
          <p:cNvSpPr/>
          <p:nvPr/>
        </p:nvSpPr>
        <p:spPr>
          <a:xfrm flipH="false" flipV="false" rot="0">
            <a:off x="7351059" y="5739955"/>
            <a:ext cx="3334354" cy="579584"/>
          </a:xfrm>
          <a:custGeom>
            <a:avLst/>
            <a:gdLst/>
            <a:ahLst/>
            <a:cxnLst/>
            <a:rect r="r" b="b" t="t" l="l"/>
            <a:pathLst>
              <a:path h="579584" w="3334354">
                <a:moveTo>
                  <a:pt x="0" y="0"/>
                </a:moveTo>
                <a:lnTo>
                  <a:pt x="3334354" y="0"/>
                </a:lnTo>
                <a:lnTo>
                  <a:pt x="3334354" y="579584"/>
                </a:lnTo>
                <a:lnTo>
                  <a:pt x="0" y="57958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23041"/>
            </a:stretch>
          </a:blipFill>
        </p:spPr>
      </p:sp>
      <p:sp>
        <p:nvSpPr>
          <p:cNvPr name="TextBox 20" id="20"/>
          <p:cNvSpPr txBox="true"/>
          <p:nvPr/>
        </p:nvSpPr>
        <p:spPr>
          <a:xfrm rot="0">
            <a:off x="6146018" y="1888954"/>
            <a:ext cx="7561347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PROJECT OVERVIEW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3812122" y="5778174"/>
            <a:ext cx="4649260" cy="52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275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Formula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3500095" y="7931615"/>
            <a:ext cx="2335615" cy="48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75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Code Snip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6821908" y="7455300"/>
            <a:ext cx="10792884" cy="215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class NeuralRS(</a:t>
            </a: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nn.Module):</a:t>
            </a:r>
          </a:p>
          <a:p>
            <a:pPr algn="l">
              <a:lnSpc>
                <a:spcPts val="4173"/>
              </a:lnSpc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def __init__(self, num_users, num_items):</a:t>
            </a:r>
          </a:p>
          <a:p>
            <a:pPr algn="l">
              <a:lnSpc>
                <a:spcPts val="4173"/>
              </a:lnSpc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super().__init__()</a:t>
            </a:r>
          </a:p>
          <a:p>
            <a:pPr algn="l">
              <a:lnSpc>
                <a:spcPts val="4173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6821908" y="466976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RECOMMENDER SYSTEM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907116" y="3194859"/>
            <a:ext cx="13053484" cy="215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What is impleme</a:t>
            </a: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nted</a:t>
            </a:r>
          </a:p>
          <a:p>
            <a:pPr algn="l" marL="672459" indent="-336229" lvl="1">
              <a:lnSpc>
                <a:spcPts val="4173"/>
              </a:lnSpc>
              <a:buFont typeface="Arial"/>
              <a:buChar char="•"/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Neural Collaborative Filtering–based Recommender System</a:t>
            </a:r>
          </a:p>
          <a:p>
            <a:pPr algn="l" marL="672459" indent="-336229" lvl="1">
              <a:lnSpc>
                <a:spcPts val="4173"/>
              </a:lnSpc>
              <a:buFont typeface="Arial"/>
              <a:buChar char="•"/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End-to-end pipeline: data → model → training → recommendation</a:t>
            </a:r>
          </a:p>
          <a:p>
            <a:pPr algn="l">
              <a:lnSpc>
                <a:spcPts val="4173"/>
              </a:lnSpc>
            </a:pPr>
          </a:p>
        </p:txBody>
      </p:sp>
      <p:sp>
        <p:nvSpPr>
          <p:cNvPr name="Freeform 26" id="26"/>
          <p:cNvSpPr/>
          <p:nvPr/>
        </p:nvSpPr>
        <p:spPr>
          <a:xfrm flipH="false" flipV="false" rot="0">
            <a:off x="4396335" y="1503796"/>
            <a:ext cx="1556192" cy="1561872"/>
          </a:xfrm>
          <a:custGeom>
            <a:avLst/>
            <a:gdLst/>
            <a:ahLst/>
            <a:cxnLst/>
            <a:rect r="r" b="b" t="t" l="l"/>
            <a:pathLst>
              <a:path h="1561872" w="1556192">
                <a:moveTo>
                  <a:pt x="0" y="0"/>
                </a:moveTo>
                <a:lnTo>
                  <a:pt x="1556192" y="0"/>
                </a:lnTo>
                <a:lnTo>
                  <a:pt x="1556192" y="1561872"/>
                </a:lnTo>
                <a:lnTo>
                  <a:pt x="0" y="156187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644820" y="-2689505"/>
            <a:ext cx="20831283" cy="3086100"/>
            <a:chOff x="0" y="0"/>
            <a:chExt cx="5486429" cy="81280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true" flipV="false" rot="0">
            <a:off x="16398985" y="8314552"/>
            <a:ext cx="1889015" cy="1972448"/>
          </a:xfrm>
          <a:custGeom>
            <a:avLst/>
            <a:gdLst/>
            <a:ahLst/>
            <a:cxnLst/>
            <a:rect r="r" b="b" t="t" l="l"/>
            <a:pathLst>
              <a:path h="1972448" w="1889015">
                <a:moveTo>
                  <a:pt x="1889015" y="0"/>
                </a:moveTo>
                <a:lnTo>
                  <a:pt x="0" y="0"/>
                </a:lnTo>
                <a:lnTo>
                  <a:pt x="0" y="1972448"/>
                </a:lnTo>
                <a:lnTo>
                  <a:pt x="1889015" y="1972448"/>
                </a:lnTo>
                <a:lnTo>
                  <a:pt x="1889015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6138401"/>
            <a:ext cx="6964120" cy="4148599"/>
          </a:xfrm>
          <a:custGeom>
            <a:avLst/>
            <a:gdLst/>
            <a:ahLst/>
            <a:cxnLst/>
            <a:rect r="r" b="b" t="t" l="l"/>
            <a:pathLst>
              <a:path h="4148599" w="6964120">
                <a:moveTo>
                  <a:pt x="0" y="0"/>
                </a:moveTo>
                <a:lnTo>
                  <a:pt x="6964120" y="0"/>
                </a:lnTo>
                <a:lnTo>
                  <a:pt x="6964120" y="4148599"/>
                </a:lnTo>
                <a:lnTo>
                  <a:pt x="0" y="414859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2952" t="0" r="-2952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-82911" y="2245368"/>
            <a:ext cx="7129941" cy="3885496"/>
          </a:xfrm>
          <a:custGeom>
            <a:avLst/>
            <a:gdLst/>
            <a:ahLst/>
            <a:cxnLst/>
            <a:rect r="r" b="b" t="t" l="l"/>
            <a:pathLst>
              <a:path h="3885496" w="7129941">
                <a:moveTo>
                  <a:pt x="0" y="0"/>
                </a:moveTo>
                <a:lnTo>
                  <a:pt x="7129941" y="0"/>
                </a:lnTo>
                <a:lnTo>
                  <a:pt x="7129941" y="3885496"/>
                </a:lnTo>
                <a:lnTo>
                  <a:pt x="0" y="3885496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4495" t="0" r="-4495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0304958" y="5039077"/>
            <a:ext cx="3434205" cy="869999"/>
          </a:xfrm>
          <a:custGeom>
            <a:avLst/>
            <a:gdLst/>
            <a:ahLst/>
            <a:cxnLst/>
            <a:rect r="r" b="b" t="t" l="l"/>
            <a:pathLst>
              <a:path h="869999" w="3434205">
                <a:moveTo>
                  <a:pt x="0" y="0"/>
                </a:moveTo>
                <a:lnTo>
                  <a:pt x="3434205" y="0"/>
                </a:lnTo>
                <a:lnTo>
                  <a:pt x="3434205" y="869999"/>
                </a:lnTo>
                <a:lnTo>
                  <a:pt x="0" y="86999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739163" y="1668016"/>
            <a:ext cx="4778791" cy="3475484"/>
          </a:xfrm>
          <a:custGeom>
            <a:avLst/>
            <a:gdLst/>
            <a:ahLst/>
            <a:cxnLst/>
            <a:rect r="r" b="b" t="t" l="l"/>
            <a:pathLst>
              <a:path h="3475484" w="4778791">
                <a:moveTo>
                  <a:pt x="0" y="0"/>
                </a:moveTo>
                <a:lnTo>
                  <a:pt x="4778791" y="0"/>
                </a:lnTo>
                <a:lnTo>
                  <a:pt x="4778791" y="3475484"/>
                </a:lnTo>
                <a:lnTo>
                  <a:pt x="0" y="3475484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0" r="0" b="0"/>
            </a:stretch>
          </a:blipFill>
        </p:spPr>
      </p:sp>
      <p:sp>
        <p:nvSpPr>
          <p:cNvPr name="TextBox 11" id="11"/>
          <p:cNvSpPr txBox="true"/>
          <p:nvPr/>
        </p:nvSpPr>
        <p:spPr>
          <a:xfrm rot="0">
            <a:off x="3545241" y="866596"/>
            <a:ext cx="10934514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COLLABORATIVE FILTERING CONCEPT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6964120" y="7329152"/>
            <a:ext cx="9333721" cy="26607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123"/>
              </a:lnSpc>
            </a:pPr>
            <a:r>
              <a:rPr lang="en-US" sz="307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class RatingsDataset(Dataset):</a:t>
            </a:r>
          </a:p>
          <a:p>
            <a:pPr algn="ctr">
              <a:lnSpc>
                <a:spcPts val="4123"/>
              </a:lnSpc>
            </a:pPr>
            <a:r>
              <a:rPr lang="en-US" sz="307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def __init__(self, users, items, labels):</a:t>
            </a:r>
          </a:p>
          <a:p>
            <a:pPr algn="ctr">
              <a:lnSpc>
                <a:spcPts val="4123"/>
              </a:lnSpc>
            </a:pPr>
            <a:r>
              <a:rPr lang="en-US" sz="307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self.users = torch.LongT</a:t>
            </a:r>
            <a:r>
              <a:rPr lang="en-US" sz="307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ensor(users)</a:t>
            </a:r>
          </a:p>
          <a:p>
            <a:pPr algn="ctr">
              <a:lnSpc>
                <a:spcPts val="4123"/>
              </a:lnSpc>
            </a:pPr>
            <a:r>
              <a:rPr lang="en-US" sz="307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self.items = torch.LongTensor(items)</a:t>
            </a:r>
          </a:p>
          <a:p>
            <a:pPr algn="ctr">
              <a:lnSpc>
                <a:spcPts val="4123"/>
              </a:lnSpc>
            </a:pPr>
            <a:r>
              <a:rPr lang="en-US" sz="307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    self.labels = torch.FloatTensor(labels)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-82911" y="421830"/>
            <a:ext cx="1746403" cy="1823538"/>
          </a:xfrm>
          <a:custGeom>
            <a:avLst/>
            <a:gdLst/>
            <a:ahLst/>
            <a:cxnLst/>
            <a:rect r="r" b="b" t="t" l="l"/>
            <a:pathLst>
              <a:path h="1823538" w="1746403">
                <a:moveTo>
                  <a:pt x="0" y="0"/>
                </a:moveTo>
                <a:lnTo>
                  <a:pt x="1746404" y="0"/>
                </a:lnTo>
                <a:lnTo>
                  <a:pt x="1746404" y="1823538"/>
                </a:lnTo>
                <a:lnTo>
                  <a:pt x="0" y="18235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7185174" y="3657101"/>
            <a:ext cx="3512951" cy="989754"/>
            <a:chOff x="0" y="0"/>
            <a:chExt cx="862451" cy="242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2451" cy="242991"/>
            </a:xfrm>
            <a:custGeom>
              <a:avLst/>
              <a:gdLst/>
              <a:ahLst/>
              <a:cxnLst/>
              <a:rect r="r" b="b" t="t" l="l"/>
              <a:pathLst>
                <a:path h="242991" w="862451">
                  <a:moveTo>
                    <a:pt x="121495" y="0"/>
                  </a:moveTo>
                  <a:lnTo>
                    <a:pt x="740955" y="0"/>
                  </a:lnTo>
                  <a:cubicBezTo>
                    <a:pt x="773178" y="0"/>
                    <a:pt x="804081" y="12800"/>
                    <a:pt x="826866" y="35585"/>
                  </a:cubicBezTo>
                  <a:cubicBezTo>
                    <a:pt x="849650" y="58370"/>
                    <a:pt x="862451" y="89273"/>
                    <a:pt x="862451" y="121495"/>
                  </a:cubicBezTo>
                  <a:lnTo>
                    <a:pt x="862451" y="121495"/>
                  </a:lnTo>
                  <a:cubicBezTo>
                    <a:pt x="862451" y="153718"/>
                    <a:pt x="849650" y="184621"/>
                    <a:pt x="826866" y="207406"/>
                  </a:cubicBezTo>
                  <a:cubicBezTo>
                    <a:pt x="804081" y="230190"/>
                    <a:pt x="773178" y="242991"/>
                    <a:pt x="7409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86245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7185174" y="3657101"/>
            <a:ext cx="1081897" cy="989754"/>
            <a:chOff x="0" y="0"/>
            <a:chExt cx="265612" cy="242991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9" id="19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0" id="20"/>
          <p:cNvSpPr txBox="true"/>
          <p:nvPr/>
        </p:nvSpPr>
        <p:spPr>
          <a:xfrm rot="0">
            <a:off x="8620563" y="3841778"/>
            <a:ext cx="4325931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Formul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 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7256023" y="6301298"/>
            <a:ext cx="3512951" cy="989754"/>
            <a:chOff x="0" y="0"/>
            <a:chExt cx="862451" cy="242991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2451" cy="242991"/>
            </a:xfrm>
            <a:custGeom>
              <a:avLst/>
              <a:gdLst/>
              <a:ahLst/>
              <a:cxnLst/>
              <a:rect r="r" b="b" t="t" l="l"/>
              <a:pathLst>
                <a:path h="242991" w="862451">
                  <a:moveTo>
                    <a:pt x="121495" y="0"/>
                  </a:moveTo>
                  <a:lnTo>
                    <a:pt x="740955" y="0"/>
                  </a:lnTo>
                  <a:cubicBezTo>
                    <a:pt x="773178" y="0"/>
                    <a:pt x="804081" y="12800"/>
                    <a:pt x="826866" y="35585"/>
                  </a:cubicBezTo>
                  <a:cubicBezTo>
                    <a:pt x="849650" y="58370"/>
                    <a:pt x="862451" y="89273"/>
                    <a:pt x="862451" y="121495"/>
                  </a:cubicBezTo>
                  <a:lnTo>
                    <a:pt x="862451" y="121495"/>
                  </a:lnTo>
                  <a:cubicBezTo>
                    <a:pt x="862451" y="153718"/>
                    <a:pt x="849650" y="184621"/>
                    <a:pt x="826866" y="207406"/>
                  </a:cubicBezTo>
                  <a:cubicBezTo>
                    <a:pt x="804081" y="230190"/>
                    <a:pt x="773178" y="242991"/>
                    <a:pt x="7409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86245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4" id="24"/>
          <p:cNvGrpSpPr/>
          <p:nvPr/>
        </p:nvGrpSpPr>
        <p:grpSpPr>
          <a:xfrm rot="0">
            <a:off x="7256023" y="6301298"/>
            <a:ext cx="1081897" cy="989754"/>
            <a:chOff x="0" y="0"/>
            <a:chExt cx="265612" cy="242991"/>
          </a:xfrm>
        </p:grpSpPr>
        <p:sp>
          <p:nvSpPr>
            <p:cNvPr name="Freeform 25" id="25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6" id="26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7" id="27"/>
          <p:cNvSpPr txBox="true"/>
          <p:nvPr/>
        </p:nvSpPr>
        <p:spPr>
          <a:xfrm rot="0">
            <a:off x="8691411" y="6485975"/>
            <a:ext cx="4325931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Code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 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6973898">
            <a:off x="15327724" y="2257692"/>
            <a:ext cx="4574135" cy="3018929"/>
          </a:xfrm>
          <a:custGeom>
            <a:avLst/>
            <a:gdLst/>
            <a:ahLst/>
            <a:cxnLst/>
            <a:rect r="r" b="b" t="t" l="l"/>
            <a:pathLst>
              <a:path h="3018929" w="4574135">
                <a:moveTo>
                  <a:pt x="0" y="0"/>
                </a:moveTo>
                <a:lnTo>
                  <a:pt x="4574135" y="0"/>
                </a:lnTo>
                <a:lnTo>
                  <a:pt x="4574135" y="3018929"/>
                </a:lnTo>
                <a:lnTo>
                  <a:pt x="0" y="30189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129709" y="3686174"/>
            <a:ext cx="3566261" cy="1063731"/>
            <a:chOff x="0" y="0"/>
            <a:chExt cx="814650" cy="24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650" cy="242991"/>
            </a:xfrm>
            <a:custGeom>
              <a:avLst/>
              <a:gdLst/>
              <a:ahLst/>
              <a:cxnLst/>
              <a:rect r="r" b="b" t="t" l="l"/>
              <a:pathLst>
                <a:path h="242991" w="814650">
                  <a:moveTo>
                    <a:pt x="121495" y="0"/>
                  </a:moveTo>
                  <a:lnTo>
                    <a:pt x="693155" y="0"/>
                  </a:lnTo>
                  <a:cubicBezTo>
                    <a:pt x="725378" y="0"/>
                    <a:pt x="756280" y="12800"/>
                    <a:pt x="779065" y="35585"/>
                  </a:cubicBezTo>
                  <a:cubicBezTo>
                    <a:pt x="801850" y="58370"/>
                    <a:pt x="814650" y="89273"/>
                    <a:pt x="814650" y="121495"/>
                  </a:cubicBezTo>
                  <a:lnTo>
                    <a:pt x="814650" y="121495"/>
                  </a:lnTo>
                  <a:cubicBezTo>
                    <a:pt x="814650" y="153718"/>
                    <a:pt x="801850" y="184621"/>
                    <a:pt x="779065" y="207406"/>
                  </a:cubicBezTo>
                  <a:cubicBezTo>
                    <a:pt x="756280" y="230190"/>
                    <a:pt x="725378" y="242991"/>
                    <a:pt x="6931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1465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129709" y="3686174"/>
            <a:ext cx="1162760" cy="1063731"/>
            <a:chOff x="0" y="0"/>
            <a:chExt cx="265612" cy="242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129709" y="6937586"/>
            <a:ext cx="4965811" cy="1063731"/>
            <a:chOff x="0" y="0"/>
            <a:chExt cx="1134353" cy="242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134353" cy="242991"/>
            </a:xfrm>
            <a:custGeom>
              <a:avLst/>
              <a:gdLst/>
              <a:ahLst/>
              <a:cxnLst/>
              <a:rect r="r" b="b" t="t" l="l"/>
              <a:pathLst>
                <a:path h="242991" w="1134353">
                  <a:moveTo>
                    <a:pt x="121495" y="0"/>
                  </a:moveTo>
                  <a:lnTo>
                    <a:pt x="1012858" y="0"/>
                  </a:lnTo>
                  <a:cubicBezTo>
                    <a:pt x="1045080" y="0"/>
                    <a:pt x="1075983" y="12800"/>
                    <a:pt x="1098768" y="35585"/>
                  </a:cubicBezTo>
                  <a:cubicBezTo>
                    <a:pt x="1121553" y="58370"/>
                    <a:pt x="1134353" y="89273"/>
                    <a:pt x="1134353" y="121495"/>
                  </a:cubicBezTo>
                  <a:lnTo>
                    <a:pt x="1134353" y="121495"/>
                  </a:lnTo>
                  <a:cubicBezTo>
                    <a:pt x="1134353" y="153718"/>
                    <a:pt x="1121553" y="184621"/>
                    <a:pt x="1098768" y="207406"/>
                  </a:cubicBezTo>
                  <a:cubicBezTo>
                    <a:pt x="1075983" y="230190"/>
                    <a:pt x="1045080" y="242991"/>
                    <a:pt x="1012858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134353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129709" y="6937586"/>
            <a:ext cx="1162760" cy="1063731"/>
            <a:chOff x="0" y="0"/>
            <a:chExt cx="265612" cy="242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6" id="16"/>
          <p:cNvGrpSpPr/>
          <p:nvPr/>
        </p:nvGrpSpPr>
        <p:grpSpPr>
          <a:xfrm rot="0">
            <a:off x="1129709" y="5340455"/>
            <a:ext cx="4045102" cy="1063731"/>
            <a:chOff x="0" y="0"/>
            <a:chExt cx="924033" cy="242991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924033" cy="242991"/>
            </a:xfrm>
            <a:custGeom>
              <a:avLst/>
              <a:gdLst/>
              <a:ahLst/>
              <a:cxnLst/>
              <a:rect r="r" b="b" t="t" l="l"/>
              <a:pathLst>
                <a:path h="242991" w="924033">
                  <a:moveTo>
                    <a:pt x="121495" y="0"/>
                  </a:moveTo>
                  <a:lnTo>
                    <a:pt x="802538" y="0"/>
                  </a:lnTo>
                  <a:cubicBezTo>
                    <a:pt x="869638" y="0"/>
                    <a:pt x="924033" y="54395"/>
                    <a:pt x="924033" y="121495"/>
                  </a:cubicBezTo>
                  <a:lnTo>
                    <a:pt x="924033" y="121495"/>
                  </a:lnTo>
                  <a:cubicBezTo>
                    <a:pt x="924033" y="153718"/>
                    <a:pt x="911233" y="184621"/>
                    <a:pt x="888448" y="207406"/>
                  </a:cubicBezTo>
                  <a:cubicBezTo>
                    <a:pt x="865663" y="230190"/>
                    <a:pt x="834760" y="242991"/>
                    <a:pt x="802538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8" id="18"/>
            <p:cNvSpPr txBox="true"/>
            <p:nvPr/>
          </p:nvSpPr>
          <p:spPr>
            <a:xfrm>
              <a:off x="0" y="-28575"/>
              <a:ext cx="924033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9" id="19"/>
          <p:cNvGrpSpPr/>
          <p:nvPr/>
        </p:nvGrpSpPr>
        <p:grpSpPr>
          <a:xfrm rot="0">
            <a:off x="1129709" y="5340455"/>
            <a:ext cx="1162760" cy="1063731"/>
            <a:chOff x="0" y="0"/>
            <a:chExt cx="265612" cy="2429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-488950" y="-1840703"/>
            <a:ext cx="20831283" cy="3086100"/>
            <a:chOff x="0" y="0"/>
            <a:chExt cx="5486429" cy="812800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6833864" y="5685839"/>
            <a:ext cx="4620272" cy="718346"/>
          </a:xfrm>
          <a:custGeom>
            <a:avLst/>
            <a:gdLst/>
            <a:ahLst/>
            <a:cxnLst/>
            <a:rect r="r" b="b" t="t" l="l"/>
            <a:pathLst>
              <a:path h="718346" w="4620272">
                <a:moveTo>
                  <a:pt x="0" y="0"/>
                </a:moveTo>
                <a:lnTo>
                  <a:pt x="4620272" y="0"/>
                </a:lnTo>
                <a:lnTo>
                  <a:pt x="4620272" y="718347"/>
                </a:lnTo>
                <a:lnTo>
                  <a:pt x="0" y="71834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548862" y="1608626"/>
            <a:ext cx="7561347" cy="176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INPUT REPRESENTATION &amp; INTERACTION SIGNAL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543482" y="3888799"/>
            <a:ext cx="4649260" cy="52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275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Model Input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360355" y="7240528"/>
            <a:ext cx="4037415" cy="48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75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Code (Dataset Access)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821908" y="6844340"/>
            <a:ext cx="10792884" cy="16379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def __getit</a:t>
            </a: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em__(self, idx):</a:t>
            </a:r>
          </a:p>
          <a:p>
            <a:pPr algn="l">
              <a:lnSpc>
                <a:spcPts val="4173"/>
              </a:lnSpc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   return self.users[idx], self.items[idx], self.labels[idx]</a:t>
            </a:r>
          </a:p>
          <a:p>
            <a:pPr algn="l">
              <a:lnSpc>
                <a:spcPts val="417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360355" y="5643397"/>
            <a:ext cx="3083717" cy="48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75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Training Example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6821908" y="466976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RECOMMENDER SYSTEM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6821908" y="3495556"/>
            <a:ext cx="10792884" cy="21579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72459" indent="-336229" lvl="1">
              <a:lnSpc>
                <a:spcPts val="4173"/>
              </a:lnSpc>
              <a:buFont typeface="Arial"/>
              <a:buChar char="•"/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User ID (u)</a:t>
            </a:r>
          </a:p>
          <a:p>
            <a:pPr algn="l" marL="672459" indent="-336229" lvl="1">
              <a:lnSpc>
                <a:spcPts val="4173"/>
              </a:lnSpc>
              <a:buFont typeface="Arial"/>
              <a:buChar char="•"/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It</a:t>
            </a: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em ID (i)</a:t>
            </a:r>
          </a:p>
          <a:p>
            <a:pPr algn="l" marL="672459" indent="-336229" lvl="1">
              <a:lnSpc>
                <a:spcPts val="4173"/>
              </a:lnSpc>
              <a:buFont typeface="Arial"/>
              <a:buChar char="•"/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Interaction label (yᵤᵢ)</a:t>
            </a:r>
          </a:p>
          <a:p>
            <a:pPr algn="l">
              <a:lnSpc>
                <a:spcPts val="4173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7047462" y="8828213"/>
            <a:ext cx="10792884" cy="111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lab</a:t>
            </a: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els = (users % 5 == items % 5).astype(int)</a:t>
            </a:r>
          </a:p>
          <a:p>
            <a:pPr algn="l">
              <a:lnSpc>
                <a:spcPts val="4173"/>
              </a:lnSpc>
            </a:pPr>
          </a:p>
        </p:txBody>
      </p:sp>
      <p:grpSp>
        <p:nvGrpSpPr>
          <p:cNvPr name="Group 34" id="34"/>
          <p:cNvGrpSpPr/>
          <p:nvPr/>
        </p:nvGrpSpPr>
        <p:grpSpPr>
          <a:xfrm rot="0">
            <a:off x="1234499" y="8429697"/>
            <a:ext cx="5213358" cy="1063731"/>
            <a:chOff x="0" y="0"/>
            <a:chExt cx="1190901" cy="242991"/>
          </a:xfrm>
        </p:grpSpPr>
        <p:sp>
          <p:nvSpPr>
            <p:cNvPr name="Freeform 35" id="35"/>
            <p:cNvSpPr/>
            <p:nvPr/>
          </p:nvSpPr>
          <p:spPr>
            <a:xfrm flipH="false" flipV="false" rot="0">
              <a:off x="0" y="0"/>
              <a:ext cx="1190901" cy="242991"/>
            </a:xfrm>
            <a:custGeom>
              <a:avLst/>
              <a:gdLst/>
              <a:ahLst/>
              <a:cxnLst/>
              <a:rect r="r" b="b" t="t" l="l"/>
              <a:pathLst>
                <a:path h="242991" w="1190901">
                  <a:moveTo>
                    <a:pt x="121495" y="0"/>
                  </a:moveTo>
                  <a:lnTo>
                    <a:pt x="1069405" y="0"/>
                  </a:lnTo>
                  <a:cubicBezTo>
                    <a:pt x="1101628" y="0"/>
                    <a:pt x="1132531" y="12800"/>
                    <a:pt x="1155316" y="35585"/>
                  </a:cubicBezTo>
                  <a:cubicBezTo>
                    <a:pt x="1178100" y="58370"/>
                    <a:pt x="1190901" y="89273"/>
                    <a:pt x="1190901" y="121495"/>
                  </a:cubicBezTo>
                  <a:lnTo>
                    <a:pt x="1190901" y="121495"/>
                  </a:lnTo>
                  <a:cubicBezTo>
                    <a:pt x="1190901" y="153718"/>
                    <a:pt x="1178100" y="184621"/>
                    <a:pt x="1155316" y="207406"/>
                  </a:cubicBezTo>
                  <a:cubicBezTo>
                    <a:pt x="1132531" y="230190"/>
                    <a:pt x="1101628" y="242991"/>
                    <a:pt x="106940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6" id="36"/>
            <p:cNvSpPr txBox="true"/>
            <p:nvPr/>
          </p:nvSpPr>
          <p:spPr>
            <a:xfrm>
              <a:off x="0" y="-28575"/>
              <a:ext cx="119090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37" id="37"/>
          <p:cNvGrpSpPr/>
          <p:nvPr/>
        </p:nvGrpSpPr>
        <p:grpSpPr>
          <a:xfrm rot="0">
            <a:off x="1129709" y="8429697"/>
            <a:ext cx="1162760" cy="1063731"/>
            <a:chOff x="0" y="0"/>
            <a:chExt cx="265612" cy="242991"/>
          </a:xfrm>
        </p:grpSpPr>
        <p:sp>
          <p:nvSpPr>
            <p:cNvPr name="Freeform 38" id="38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9" id="39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40" id="40"/>
          <p:cNvSpPr txBox="true"/>
          <p:nvPr/>
        </p:nvSpPr>
        <p:spPr>
          <a:xfrm rot="0">
            <a:off x="2510074" y="8518680"/>
            <a:ext cx="4581373" cy="8886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75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Interaction Signal (Learnable Pattern)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6821908" y="1692173"/>
            <a:ext cx="4646673" cy="989754"/>
            <a:chOff x="0" y="0"/>
            <a:chExt cx="1140787" cy="2429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140787" cy="242991"/>
            </a:xfrm>
            <a:custGeom>
              <a:avLst/>
              <a:gdLst/>
              <a:ahLst/>
              <a:cxnLst/>
              <a:rect r="r" b="b" t="t" l="l"/>
              <a:pathLst>
                <a:path h="242991" w="1140787">
                  <a:moveTo>
                    <a:pt x="121495" y="0"/>
                  </a:moveTo>
                  <a:lnTo>
                    <a:pt x="1019291" y="0"/>
                  </a:lnTo>
                  <a:cubicBezTo>
                    <a:pt x="1051514" y="0"/>
                    <a:pt x="1082417" y="12800"/>
                    <a:pt x="1105201" y="35585"/>
                  </a:cubicBezTo>
                  <a:cubicBezTo>
                    <a:pt x="1127986" y="58370"/>
                    <a:pt x="1140787" y="89273"/>
                    <a:pt x="1140787" y="121495"/>
                  </a:cubicBezTo>
                  <a:lnTo>
                    <a:pt x="1140787" y="121495"/>
                  </a:lnTo>
                  <a:cubicBezTo>
                    <a:pt x="1140787" y="153718"/>
                    <a:pt x="1127986" y="184621"/>
                    <a:pt x="1105201" y="207406"/>
                  </a:cubicBezTo>
                  <a:cubicBezTo>
                    <a:pt x="1082417" y="230190"/>
                    <a:pt x="1051514" y="242991"/>
                    <a:pt x="1019291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140787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502267" y="3215540"/>
            <a:ext cx="5048616" cy="5048616"/>
          </a:xfrm>
          <a:custGeom>
            <a:avLst/>
            <a:gdLst/>
            <a:ahLst/>
            <a:cxnLst/>
            <a:rect r="r" b="b" t="t" l="l"/>
            <a:pathLst>
              <a:path h="5048616" w="5048616">
                <a:moveTo>
                  <a:pt x="0" y="0"/>
                </a:moveTo>
                <a:lnTo>
                  <a:pt x="5048616" y="0"/>
                </a:lnTo>
                <a:lnTo>
                  <a:pt x="5048616" y="5048616"/>
                </a:lnTo>
                <a:lnTo>
                  <a:pt x="0" y="5048616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6821908" y="1692173"/>
            <a:ext cx="1081897" cy="989754"/>
            <a:chOff x="0" y="0"/>
            <a:chExt cx="265612" cy="242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6847490" y="7605073"/>
            <a:ext cx="4144557" cy="989754"/>
            <a:chOff x="0" y="0"/>
            <a:chExt cx="1017514" cy="242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6847490" y="7605073"/>
            <a:ext cx="1081897" cy="989754"/>
            <a:chOff x="0" y="0"/>
            <a:chExt cx="265612" cy="242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6" id="16"/>
          <p:cNvSpPr txBox="true"/>
          <p:nvPr/>
        </p:nvSpPr>
        <p:spPr>
          <a:xfrm rot="0">
            <a:off x="2251252" y="4458390"/>
            <a:ext cx="4299631" cy="262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SYSTEM COMPONENTS &amp; DATA FLOW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8069748" y="1896435"/>
            <a:ext cx="4325931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Project Components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1287322" y="7985650"/>
            <a:ext cx="7685515" cy="258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RatingsDataset</a:t>
            </a:r>
          </a:p>
          <a:p>
            <a:pPr algn="l">
              <a:lnSpc>
                <a:spcPts val="3976"/>
              </a:lnSpc>
            </a:pP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NeuralRS</a:t>
            </a:r>
          </a:p>
          <a:p>
            <a:pPr algn="l">
              <a:lnSpc>
                <a:spcPts val="3976"/>
              </a:lnSpc>
            </a:pP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training loop</a:t>
            </a:r>
          </a:p>
          <a:p>
            <a:pPr algn="l">
              <a:lnSpc>
                <a:spcPts val="3976"/>
              </a:lnSpc>
            </a:pP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recommend_</a:t>
            </a: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items()</a:t>
            </a:r>
          </a:p>
          <a:p>
            <a:pPr algn="l">
              <a:lnSpc>
                <a:spcPts val="397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7982511" y="7849780"/>
            <a:ext cx="2689250" cy="4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Code (Structure)</a:t>
            </a:r>
          </a:p>
        </p:txBody>
      </p:sp>
      <p:sp>
        <p:nvSpPr>
          <p:cNvPr name="Freeform 20" id="20"/>
          <p:cNvSpPr/>
          <p:nvPr/>
        </p:nvSpPr>
        <p:spPr>
          <a:xfrm flipH="false" flipV="false" rot="-7824154">
            <a:off x="14972233" y="1706075"/>
            <a:ext cx="4574135" cy="3018929"/>
          </a:xfrm>
          <a:custGeom>
            <a:avLst/>
            <a:gdLst/>
            <a:ahLst/>
            <a:cxnLst/>
            <a:rect r="r" b="b" t="t" l="l"/>
            <a:pathLst>
              <a:path h="3018929" w="4574135">
                <a:moveTo>
                  <a:pt x="0" y="0"/>
                </a:moveTo>
                <a:lnTo>
                  <a:pt x="4574134" y="0"/>
                </a:lnTo>
                <a:lnTo>
                  <a:pt x="4574134" y="3018929"/>
                </a:lnTo>
                <a:lnTo>
                  <a:pt x="0" y="3018929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21" id="21"/>
          <p:cNvGrpSpPr/>
          <p:nvPr/>
        </p:nvGrpSpPr>
        <p:grpSpPr>
          <a:xfrm rot="0">
            <a:off x="-488950" y="-1840703"/>
            <a:ext cx="20831283" cy="3086100"/>
            <a:chOff x="0" y="0"/>
            <a:chExt cx="5486429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821908" y="466976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RECOMMENDER SYSTEM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6847490" y="4929393"/>
            <a:ext cx="4144557" cy="989754"/>
            <a:chOff x="0" y="0"/>
            <a:chExt cx="1017514" cy="242991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8" id="28"/>
          <p:cNvGrpSpPr/>
          <p:nvPr/>
        </p:nvGrpSpPr>
        <p:grpSpPr>
          <a:xfrm rot="0">
            <a:off x="6847490" y="4929393"/>
            <a:ext cx="1081897" cy="989754"/>
            <a:chOff x="0" y="0"/>
            <a:chExt cx="265612" cy="242991"/>
          </a:xfrm>
        </p:grpSpPr>
        <p:sp>
          <p:nvSpPr>
            <p:cNvPr name="Freeform 29" id="29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0" id="30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1" id="31"/>
          <p:cNvSpPr txBox="true"/>
          <p:nvPr/>
        </p:nvSpPr>
        <p:spPr>
          <a:xfrm rot="0">
            <a:off x="8302797" y="5207123"/>
            <a:ext cx="2173187" cy="4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Data Flow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7492443" y="2698512"/>
            <a:ext cx="9806472" cy="2585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40663" indent="-320331" lvl="1">
              <a:lnSpc>
                <a:spcPts val="3976"/>
              </a:lnSpc>
              <a:buFont typeface="Arial"/>
              <a:buChar char="•"/>
            </a:pP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Dataset class → prepares training data</a:t>
            </a:r>
          </a:p>
          <a:p>
            <a:pPr algn="l" marL="640663" indent="-320331" lvl="1">
              <a:lnSpc>
                <a:spcPts val="3976"/>
              </a:lnSpc>
              <a:buFont typeface="Arial"/>
              <a:buChar char="•"/>
            </a:pP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Neural CF model → learns user–item interactions</a:t>
            </a:r>
          </a:p>
          <a:p>
            <a:pPr algn="l" marL="640663" indent="-320331" lvl="1">
              <a:lnSpc>
                <a:spcPts val="3976"/>
              </a:lnSpc>
              <a:buFont typeface="Arial"/>
              <a:buChar char="•"/>
            </a:pP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Training loop → optimizes model parameters</a:t>
            </a:r>
          </a:p>
          <a:p>
            <a:pPr algn="l" marL="640663" indent="-320331" lvl="1">
              <a:lnSpc>
                <a:spcPts val="3976"/>
              </a:lnSpc>
              <a:buFont typeface="Arial"/>
              <a:buChar char="•"/>
            </a:pP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Recommendation function → generates Top-K </a:t>
            </a: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items</a:t>
            </a:r>
          </a:p>
          <a:p>
            <a:pPr algn="l">
              <a:lnSpc>
                <a:spcPts val="3976"/>
              </a:lnSpc>
            </a:pPr>
          </a:p>
        </p:txBody>
      </p:sp>
      <p:sp>
        <p:nvSpPr>
          <p:cNvPr name="TextBox 33" id="33"/>
          <p:cNvSpPr txBox="true"/>
          <p:nvPr/>
        </p:nvSpPr>
        <p:spPr>
          <a:xfrm rot="0">
            <a:off x="7362856" y="6236680"/>
            <a:ext cx="11301483" cy="107119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76"/>
              </a:lnSpc>
            </a:pPr>
            <a:r>
              <a:rPr lang="en-US" sz="29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User–Item Data → Model Training → Personalized Recommendations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214565" y="1487086"/>
            <a:ext cx="7161985" cy="5019655"/>
          </a:xfrm>
          <a:custGeom>
            <a:avLst/>
            <a:gdLst/>
            <a:ahLst/>
            <a:cxnLst/>
            <a:rect r="r" b="b" t="t" l="l"/>
            <a:pathLst>
              <a:path h="5019655" w="7161985">
                <a:moveTo>
                  <a:pt x="0" y="0"/>
                </a:moveTo>
                <a:lnTo>
                  <a:pt x="7161985" y="0"/>
                </a:lnTo>
                <a:lnTo>
                  <a:pt x="7161985" y="5019655"/>
                </a:lnTo>
                <a:lnTo>
                  <a:pt x="0" y="501965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6781" t="-11979" r="-5812" b="-645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0" y="3975558"/>
            <a:ext cx="5728997" cy="5817236"/>
          </a:xfrm>
          <a:custGeom>
            <a:avLst/>
            <a:gdLst/>
            <a:ahLst/>
            <a:cxnLst/>
            <a:rect r="r" b="b" t="t" l="l"/>
            <a:pathLst>
              <a:path h="5817236" w="5728997">
                <a:moveTo>
                  <a:pt x="0" y="0"/>
                </a:moveTo>
                <a:lnTo>
                  <a:pt x="5728997" y="0"/>
                </a:lnTo>
                <a:lnTo>
                  <a:pt x="5728997" y="5817236"/>
                </a:lnTo>
                <a:lnTo>
                  <a:pt x="0" y="581723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9" t="0" r="-389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5496184" y="1808747"/>
            <a:ext cx="9702272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EMBEDDING LAYER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7518813" y="8363419"/>
            <a:ext cx="10042302" cy="15142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3"/>
              </a:lnSpc>
            </a:pPr>
            <a:r>
              <a:rPr lang="en-US" sz="2898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self.user_embedding = nn.Embedding(num_users, 32)</a:t>
            </a:r>
          </a:p>
          <a:p>
            <a:pPr algn="l">
              <a:lnSpc>
                <a:spcPts val="3883"/>
              </a:lnSpc>
            </a:pPr>
            <a:r>
              <a:rPr lang="en-US" sz="2898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self.item_embedding = nn.Embedding(num_items, 32)</a:t>
            </a:r>
          </a:p>
          <a:p>
            <a:pPr algn="l">
              <a:lnSpc>
                <a:spcPts val="3883"/>
              </a:lnSpc>
            </a:pP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8285350" y="6697241"/>
            <a:ext cx="5858431" cy="615560"/>
          </a:xfrm>
          <a:custGeom>
            <a:avLst/>
            <a:gdLst/>
            <a:ahLst/>
            <a:cxnLst/>
            <a:rect r="r" b="b" t="t" l="l"/>
            <a:pathLst>
              <a:path h="615560" w="5858431">
                <a:moveTo>
                  <a:pt x="0" y="0"/>
                </a:moveTo>
                <a:lnTo>
                  <a:pt x="5858430" y="0"/>
                </a:lnTo>
                <a:lnTo>
                  <a:pt x="5858430" y="615560"/>
                </a:lnTo>
                <a:lnTo>
                  <a:pt x="0" y="61556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8" id="8"/>
          <p:cNvGrpSpPr/>
          <p:nvPr/>
        </p:nvGrpSpPr>
        <p:grpSpPr>
          <a:xfrm rot="0">
            <a:off x="6254814" y="7503301"/>
            <a:ext cx="3282627" cy="783918"/>
            <a:chOff x="0" y="0"/>
            <a:chExt cx="1017514" cy="242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6254814" y="7503301"/>
            <a:ext cx="856898" cy="783918"/>
            <a:chOff x="0" y="0"/>
            <a:chExt cx="265612" cy="242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7256944" y="7626484"/>
            <a:ext cx="1721236" cy="48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82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Code Snip</a:t>
            </a:r>
          </a:p>
        </p:txBody>
      </p:sp>
      <p:grpSp>
        <p:nvGrpSpPr>
          <p:cNvPr name="Group 15" id="15"/>
          <p:cNvGrpSpPr/>
          <p:nvPr/>
        </p:nvGrpSpPr>
        <p:grpSpPr>
          <a:xfrm rot="0">
            <a:off x="-488950" y="-1840703"/>
            <a:ext cx="20831283" cy="3086100"/>
            <a:chOff x="0" y="0"/>
            <a:chExt cx="5486429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7" id="17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18" id="18"/>
          <p:cNvSpPr txBox="true"/>
          <p:nvPr/>
        </p:nvSpPr>
        <p:spPr>
          <a:xfrm rot="0">
            <a:off x="6821908" y="466976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RECOMMENDER SYSTEM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905541" y="3464123"/>
            <a:ext cx="10042302" cy="19980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83"/>
              </a:lnSpc>
            </a:pPr>
            <a:r>
              <a:rPr lang="en-US" sz="2898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What </a:t>
            </a:r>
            <a:r>
              <a:rPr lang="en-US" sz="2898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embeddings do</a:t>
            </a:r>
          </a:p>
          <a:p>
            <a:pPr algn="l" marL="625693" indent="-312847" lvl="1">
              <a:lnSpc>
                <a:spcPts val="3883"/>
              </a:lnSpc>
              <a:buFont typeface="Arial"/>
              <a:buChar char="•"/>
            </a:pPr>
            <a:r>
              <a:rPr lang="en-US" sz="2898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Convert IDs into dense vectors</a:t>
            </a:r>
          </a:p>
          <a:p>
            <a:pPr algn="l" marL="625693" indent="-312847" lvl="1">
              <a:lnSpc>
                <a:spcPts val="3883"/>
              </a:lnSpc>
              <a:buFont typeface="Arial"/>
              <a:buChar char="•"/>
            </a:pPr>
            <a:r>
              <a:rPr lang="en-US" sz="2898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Capture latent preferences</a:t>
            </a:r>
          </a:p>
          <a:p>
            <a:pPr algn="l">
              <a:lnSpc>
                <a:spcPts val="3883"/>
              </a:lnSpc>
            </a:pPr>
          </a:p>
        </p:txBody>
      </p:sp>
      <p:grpSp>
        <p:nvGrpSpPr>
          <p:cNvPr name="Group 20" id="20"/>
          <p:cNvGrpSpPr/>
          <p:nvPr/>
        </p:nvGrpSpPr>
        <p:grpSpPr>
          <a:xfrm rot="0">
            <a:off x="6254814" y="5722823"/>
            <a:ext cx="3282627" cy="783918"/>
            <a:chOff x="0" y="0"/>
            <a:chExt cx="1017514" cy="242991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254814" y="5722823"/>
            <a:ext cx="856898" cy="783918"/>
            <a:chOff x="0" y="0"/>
            <a:chExt cx="265612" cy="242991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7256944" y="5846006"/>
            <a:ext cx="1721236" cy="48040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76"/>
              </a:lnSpc>
            </a:pPr>
            <a:r>
              <a:rPr lang="en-US" sz="2824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Formula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464641" y="2697780"/>
            <a:ext cx="6630779" cy="7068493"/>
          </a:xfrm>
          <a:custGeom>
            <a:avLst/>
            <a:gdLst/>
            <a:ahLst/>
            <a:cxnLst/>
            <a:rect r="r" b="b" t="t" l="l"/>
            <a:pathLst>
              <a:path h="7068493" w="6630779">
                <a:moveTo>
                  <a:pt x="0" y="0"/>
                </a:moveTo>
                <a:lnTo>
                  <a:pt x="6630779" y="0"/>
                </a:lnTo>
                <a:lnTo>
                  <a:pt x="6630779" y="7068493"/>
                </a:lnTo>
                <a:lnTo>
                  <a:pt x="0" y="70684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7617255" y="6232027"/>
            <a:ext cx="3512951" cy="989754"/>
            <a:chOff x="0" y="0"/>
            <a:chExt cx="862451" cy="24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62451" cy="242991"/>
            </a:xfrm>
            <a:custGeom>
              <a:avLst/>
              <a:gdLst/>
              <a:ahLst/>
              <a:cxnLst/>
              <a:rect r="r" b="b" t="t" l="l"/>
              <a:pathLst>
                <a:path h="242991" w="862451">
                  <a:moveTo>
                    <a:pt x="121495" y="0"/>
                  </a:moveTo>
                  <a:lnTo>
                    <a:pt x="740955" y="0"/>
                  </a:lnTo>
                  <a:cubicBezTo>
                    <a:pt x="773178" y="0"/>
                    <a:pt x="804081" y="12800"/>
                    <a:pt x="826866" y="35585"/>
                  </a:cubicBezTo>
                  <a:cubicBezTo>
                    <a:pt x="849650" y="58370"/>
                    <a:pt x="862451" y="89273"/>
                    <a:pt x="862451" y="121495"/>
                  </a:cubicBezTo>
                  <a:lnTo>
                    <a:pt x="862451" y="121495"/>
                  </a:lnTo>
                  <a:cubicBezTo>
                    <a:pt x="862451" y="153718"/>
                    <a:pt x="849650" y="184621"/>
                    <a:pt x="826866" y="207406"/>
                  </a:cubicBezTo>
                  <a:cubicBezTo>
                    <a:pt x="804081" y="230190"/>
                    <a:pt x="773178" y="242991"/>
                    <a:pt x="7409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6245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7617255" y="6232027"/>
            <a:ext cx="1081897" cy="989754"/>
            <a:chOff x="0" y="0"/>
            <a:chExt cx="265612" cy="242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7617255" y="7973749"/>
            <a:ext cx="3512951" cy="989754"/>
            <a:chOff x="0" y="0"/>
            <a:chExt cx="862451" cy="242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62451" cy="242991"/>
            </a:xfrm>
            <a:custGeom>
              <a:avLst/>
              <a:gdLst/>
              <a:ahLst/>
              <a:cxnLst/>
              <a:rect r="r" b="b" t="t" l="l"/>
              <a:pathLst>
                <a:path h="242991" w="862451">
                  <a:moveTo>
                    <a:pt x="121495" y="0"/>
                  </a:moveTo>
                  <a:lnTo>
                    <a:pt x="740955" y="0"/>
                  </a:lnTo>
                  <a:cubicBezTo>
                    <a:pt x="773178" y="0"/>
                    <a:pt x="804081" y="12800"/>
                    <a:pt x="826866" y="35585"/>
                  </a:cubicBezTo>
                  <a:cubicBezTo>
                    <a:pt x="849650" y="58370"/>
                    <a:pt x="862451" y="89273"/>
                    <a:pt x="862451" y="121495"/>
                  </a:cubicBezTo>
                  <a:lnTo>
                    <a:pt x="862451" y="121495"/>
                  </a:lnTo>
                  <a:cubicBezTo>
                    <a:pt x="862451" y="153718"/>
                    <a:pt x="849650" y="184621"/>
                    <a:pt x="826866" y="207406"/>
                  </a:cubicBezTo>
                  <a:cubicBezTo>
                    <a:pt x="804081" y="230190"/>
                    <a:pt x="773178" y="242991"/>
                    <a:pt x="7409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6245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7617255" y="7973749"/>
            <a:ext cx="1081897" cy="989754"/>
            <a:chOff x="0" y="0"/>
            <a:chExt cx="265612" cy="242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442492" y="6242922"/>
            <a:ext cx="4167170" cy="967965"/>
          </a:xfrm>
          <a:custGeom>
            <a:avLst/>
            <a:gdLst/>
            <a:ahLst/>
            <a:cxnLst/>
            <a:rect r="r" b="b" t="t" l="l"/>
            <a:pathLst>
              <a:path h="967965" w="4167170">
                <a:moveTo>
                  <a:pt x="0" y="0"/>
                </a:moveTo>
                <a:lnTo>
                  <a:pt x="4167170" y="0"/>
                </a:lnTo>
                <a:lnTo>
                  <a:pt x="4167170" y="967965"/>
                </a:lnTo>
                <a:lnTo>
                  <a:pt x="0" y="96796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7613064" y="1868616"/>
            <a:ext cx="7561347" cy="1763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NEURAL COLLABORATIVE FILTERING (MLP)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2394979" y="8013698"/>
            <a:ext cx="9728642" cy="176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x =</a:t>
            </a: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torch.cat([u, i], dim=1)</a:t>
            </a:r>
          </a:p>
          <a:p>
            <a:pPr algn="l">
              <a:lnSpc>
                <a:spcPts val="4110"/>
              </a:lnSpc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output = self.mlp(x)</a:t>
            </a:r>
          </a:p>
          <a:p>
            <a:pPr algn="l">
              <a:lnSpc>
                <a:spcPts val="531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9052644" y="6416704"/>
            <a:ext cx="4325931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Formul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 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072562" y="8251478"/>
            <a:ext cx="2173187" cy="4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Code Snip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488950" y="-1840703"/>
            <a:ext cx="20831283" cy="3086100"/>
            <a:chOff x="0" y="0"/>
            <a:chExt cx="5486429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821908" y="466976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RECOMMENDER SYSTEM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797579" y="3918007"/>
            <a:ext cx="9728642" cy="279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How NCF</a:t>
            </a: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works</a:t>
            </a:r>
          </a:p>
          <a:p>
            <a:pPr algn="l" marL="662252" indent="-331126" lvl="1">
              <a:lnSpc>
                <a:spcPts val="4110"/>
              </a:lnSpc>
              <a:buFont typeface="Arial"/>
              <a:buChar char="•"/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Combine user &amp; item embeddings</a:t>
            </a:r>
          </a:p>
          <a:p>
            <a:pPr algn="l" marL="662252" indent="-331126" lvl="1">
              <a:lnSpc>
                <a:spcPts val="4110"/>
              </a:lnSpc>
              <a:buFont typeface="Arial"/>
              <a:buChar char="•"/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Pass through neural network</a:t>
            </a:r>
          </a:p>
          <a:p>
            <a:pPr algn="l">
              <a:lnSpc>
                <a:spcPts val="4110"/>
              </a:lnSpc>
            </a:pPr>
          </a:p>
          <a:p>
            <a:pPr algn="l">
              <a:lnSpc>
                <a:spcPts val="5316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225421" y="303545"/>
            <a:ext cx="4574135" cy="3018929"/>
          </a:xfrm>
          <a:custGeom>
            <a:avLst/>
            <a:gdLst/>
            <a:ahLst/>
            <a:cxnLst/>
            <a:rect r="r" b="b" t="t" l="l"/>
            <a:pathLst>
              <a:path h="3018929" w="4574135">
                <a:moveTo>
                  <a:pt x="0" y="0"/>
                </a:moveTo>
                <a:lnTo>
                  <a:pt x="4574135" y="0"/>
                </a:lnTo>
                <a:lnTo>
                  <a:pt x="4574135" y="3018928"/>
                </a:lnTo>
                <a:lnTo>
                  <a:pt x="0" y="301892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1681560" y="5681498"/>
            <a:ext cx="3566261" cy="1063731"/>
            <a:chOff x="0" y="0"/>
            <a:chExt cx="814650" cy="24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814650" cy="242991"/>
            </a:xfrm>
            <a:custGeom>
              <a:avLst/>
              <a:gdLst/>
              <a:ahLst/>
              <a:cxnLst/>
              <a:rect r="r" b="b" t="t" l="l"/>
              <a:pathLst>
                <a:path h="242991" w="814650">
                  <a:moveTo>
                    <a:pt x="121495" y="0"/>
                  </a:moveTo>
                  <a:lnTo>
                    <a:pt x="693155" y="0"/>
                  </a:lnTo>
                  <a:cubicBezTo>
                    <a:pt x="725378" y="0"/>
                    <a:pt x="756280" y="12800"/>
                    <a:pt x="779065" y="35585"/>
                  </a:cubicBezTo>
                  <a:cubicBezTo>
                    <a:pt x="801850" y="58370"/>
                    <a:pt x="814650" y="89273"/>
                    <a:pt x="814650" y="121495"/>
                  </a:cubicBezTo>
                  <a:lnTo>
                    <a:pt x="814650" y="121495"/>
                  </a:lnTo>
                  <a:cubicBezTo>
                    <a:pt x="814650" y="153718"/>
                    <a:pt x="801850" y="184621"/>
                    <a:pt x="779065" y="207406"/>
                  </a:cubicBezTo>
                  <a:cubicBezTo>
                    <a:pt x="756280" y="230190"/>
                    <a:pt x="725378" y="242991"/>
                    <a:pt x="6931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81465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1681560" y="5681498"/>
            <a:ext cx="1162760" cy="1063731"/>
            <a:chOff x="0" y="0"/>
            <a:chExt cx="265612" cy="242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1681560" y="8519964"/>
            <a:ext cx="3566261" cy="1063731"/>
            <a:chOff x="0" y="0"/>
            <a:chExt cx="814650" cy="242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814650" cy="242991"/>
            </a:xfrm>
            <a:custGeom>
              <a:avLst/>
              <a:gdLst/>
              <a:ahLst/>
              <a:cxnLst/>
              <a:rect r="r" b="b" t="t" l="l"/>
              <a:pathLst>
                <a:path h="242991" w="814650">
                  <a:moveTo>
                    <a:pt x="121495" y="0"/>
                  </a:moveTo>
                  <a:lnTo>
                    <a:pt x="693155" y="0"/>
                  </a:lnTo>
                  <a:cubicBezTo>
                    <a:pt x="725378" y="0"/>
                    <a:pt x="756280" y="12800"/>
                    <a:pt x="779065" y="35585"/>
                  </a:cubicBezTo>
                  <a:cubicBezTo>
                    <a:pt x="801850" y="58370"/>
                    <a:pt x="814650" y="89273"/>
                    <a:pt x="814650" y="121495"/>
                  </a:cubicBezTo>
                  <a:lnTo>
                    <a:pt x="814650" y="121495"/>
                  </a:lnTo>
                  <a:cubicBezTo>
                    <a:pt x="814650" y="153718"/>
                    <a:pt x="801850" y="184621"/>
                    <a:pt x="779065" y="207406"/>
                  </a:cubicBezTo>
                  <a:cubicBezTo>
                    <a:pt x="756280" y="230190"/>
                    <a:pt x="725378" y="242991"/>
                    <a:pt x="6931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81465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1681560" y="8519964"/>
            <a:ext cx="1162760" cy="1063731"/>
            <a:chOff x="0" y="0"/>
            <a:chExt cx="265612" cy="242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12122257" y="2855367"/>
            <a:ext cx="5577854" cy="3653495"/>
          </a:xfrm>
          <a:custGeom>
            <a:avLst/>
            <a:gdLst/>
            <a:ahLst/>
            <a:cxnLst/>
            <a:rect r="r" b="b" t="t" l="l"/>
            <a:pathLst>
              <a:path h="3653495" w="5577854">
                <a:moveTo>
                  <a:pt x="0" y="0"/>
                </a:moveTo>
                <a:lnTo>
                  <a:pt x="5577854" y="0"/>
                </a:lnTo>
                <a:lnTo>
                  <a:pt x="5577854" y="3653495"/>
                </a:lnTo>
                <a:lnTo>
                  <a:pt x="0" y="3653495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122257" y="6706449"/>
            <a:ext cx="5957941" cy="3580551"/>
          </a:xfrm>
          <a:custGeom>
            <a:avLst/>
            <a:gdLst/>
            <a:ahLst/>
            <a:cxnLst/>
            <a:rect r="r" b="b" t="t" l="l"/>
            <a:pathLst>
              <a:path h="3580551" w="5957941">
                <a:moveTo>
                  <a:pt x="0" y="0"/>
                </a:moveTo>
                <a:lnTo>
                  <a:pt x="5957940" y="0"/>
                </a:lnTo>
                <a:lnTo>
                  <a:pt x="5957940" y="3580551"/>
                </a:lnTo>
                <a:lnTo>
                  <a:pt x="0" y="3580551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5465" r="0" b="-5465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5977424" y="5700342"/>
            <a:ext cx="3792137" cy="703844"/>
          </a:xfrm>
          <a:custGeom>
            <a:avLst/>
            <a:gdLst/>
            <a:ahLst/>
            <a:cxnLst/>
            <a:rect r="r" b="b" t="t" l="l"/>
            <a:pathLst>
              <a:path h="703844" w="3792137">
                <a:moveTo>
                  <a:pt x="0" y="0"/>
                </a:moveTo>
                <a:lnTo>
                  <a:pt x="3792137" y="0"/>
                </a:lnTo>
                <a:lnTo>
                  <a:pt x="3792137" y="703844"/>
                </a:lnTo>
                <a:lnTo>
                  <a:pt x="0" y="70384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grpSp>
        <p:nvGrpSpPr>
          <p:cNvPr name="Group 19" id="19"/>
          <p:cNvGrpSpPr/>
          <p:nvPr/>
        </p:nvGrpSpPr>
        <p:grpSpPr>
          <a:xfrm rot="0">
            <a:off x="1681560" y="7100731"/>
            <a:ext cx="3566261" cy="1063731"/>
            <a:chOff x="0" y="0"/>
            <a:chExt cx="814650" cy="242991"/>
          </a:xfrm>
        </p:grpSpPr>
        <p:sp>
          <p:nvSpPr>
            <p:cNvPr name="Freeform 20" id="20"/>
            <p:cNvSpPr/>
            <p:nvPr/>
          </p:nvSpPr>
          <p:spPr>
            <a:xfrm flipH="false" flipV="false" rot="0">
              <a:off x="0" y="0"/>
              <a:ext cx="814650" cy="242991"/>
            </a:xfrm>
            <a:custGeom>
              <a:avLst/>
              <a:gdLst/>
              <a:ahLst/>
              <a:cxnLst/>
              <a:rect r="r" b="b" t="t" l="l"/>
              <a:pathLst>
                <a:path h="242991" w="814650">
                  <a:moveTo>
                    <a:pt x="121495" y="0"/>
                  </a:moveTo>
                  <a:lnTo>
                    <a:pt x="693155" y="0"/>
                  </a:lnTo>
                  <a:cubicBezTo>
                    <a:pt x="725378" y="0"/>
                    <a:pt x="756280" y="12800"/>
                    <a:pt x="779065" y="35585"/>
                  </a:cubicBezTo>
                  <a:cubicBezTo>
                    <a:pt x="801850" y="58370"/>
                    <a:pt x="814650" y="89273"/>
                    <a:pt x="814650" y="121495"/>
                  </a:cubicBezTo>
                  <a:lnTo>
                    <a:pt x="814650" y="121495"/>
                  </a:lnTo>
                  <a:cubicBezTo>
                    <a:pt x="814650" y="153718"/>
                    <a:pt x="801850" y="184621"/>
                    <a:pt x="779065" y="207406"/>
                  </a:cubicBezTo>
                  <a:cubicBezTo>
                    <a:pt x="756280" y="230190"/>
                    <a:pt x="725378" y="242991"/>
                    <a:pt x="6931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1" id="21"/>
            <p:cNvSpPr txBox="true"/>
            <p:nvPr/>
          </p:nvSpPr>
          <p:spPr>
            <a:xfrm>
              <a:off x="0" y="-28575"/>
              <a:ext cx="814650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22" id="22"/>
          <p:cNvGrpSpPr/>
          <p:nvPr/>
        </p:nvGrpSpPr>
        <p:grpSpPr>
          <a:xfrm rot="0">
            <a:off x="1681560" y="7100731"/>
            <a:ext cx="1162760" cy="1063731"/>
            <a:chOff x="0" y="0"/>
            <a:chExt cx="265612" cy="242991"/>
          </a:xfrm>
        </p:grpSpPr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4" id="24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25" id="25"/>
          <p:cNvSpPr/>
          <p:nvPr/>
        </p:nvSpPr>
        <p:spPr>
          <a:xfrm flipH="false" flipV="false" rot="0">
            <a:off x="5977424" y="7057702"/>
            <a:ext cx="3764690" cy="1187888"/>
          </a:xfrm>
          <a:custGeom>
            <a:avLst/>
            <a:gdLst/>
            <a:ahLst/>
            <a:cxnLst/>
            <a:rect r="r" b="b" t="t" l="l"/>
            <a:pathLst>
              <a:path h="1187888" w="3764690">
                <a:moveTo>
                  <a:pt x="0" y="0"/>
                </a:moveTo>
                <a:lnTo>
                  <a:pt x="3764690" y="0"/>
                </a:lnTo>
                <a:lnTo>
                  <a:pt x="3764690" y="1187888"/>
                </a:lnTo>
                <a:lnTo>
                  <a:pt x="0" y="118788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  <p:sp>
        <p:nvSpPr>
          <p:cNvPr name="TextBox 26" id="26"/>
          <p:cNvSpPr txBox="true"/>
          <p:nvPr/>
        </p:nvSpPr>
        <p:spPr>
          <a:xfrm rot="0">
            <a:off x="5560047" y="2200528"/>
            <a:ext cx="7561347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ACTIVATION FUNCTIONS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3224232" y="5878285"/>
            <a:ext cx="4649260" cy="52590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97"/>
              </a:lnSpc>
            </a:pPr>
            <a:r>
              <a:rPr lang="en-US" sz="275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Relu</a:t>
            </a:r>
          </a:p>
        </p:txBody>
      </p:sp>
      <p:sp>
        <p:nvSpPr>
          <p:cNvPr name="TextBox 28" id="28"/>
          <p:cNvSpPr txBox="true"/>
          <p:nvPr/>
        </p:nvSpPr>
        <p:spPr>
          <a:xfrm rot="0">
            <a:off x="2912206" y="8822906"/>
            <a:ext cx="2335615" cy="48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75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Code Snip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6907227" y="8765756"/>
            <a:ext cx="10792884" cy="111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nn.ReLU()</a:t>
            </a:r>
          </a:p>
          <a:p>
            <a:pPr algn="l">
              <a:lnSpc>
                <a:spcPts val="4173"/>
              </a:lnSpc>
            </a:pPr>
          </a:p>
        </p:txBody>
      </p:sp>
      <p:sp>
        <p:nvSpPr>
          <p:cNvPr name="TextBox 30" id="30"/>
          <p:cNvSpPr txBox="true"/>
          <p:nvPr/>
        </p:nvSpPr>
        <p:spPr>
          <a:xfrm rot="0">
            <a:off x="2912206" y="7403673"/>
            <a:ext cx="2335615" cy="48945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2759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Sigmoid</a:t>
            </a:r>
          </a:p>
        </p:txBody>
      </p:sp>
      <p:grpSp>
        <p:nvGrpSpPr>
          <p:cNvPr name="Group 31" id="31"/>
          <p:cNvGrpSpPr/>
          <p:nvPr/>
        </p:nvGrpSpPr>
        <p:grpSpPr>
          <a:xfrm rot="0">
            <a:off x="-488950" y="-1840703"/>
            <a:ext cx="20831283" cy="3086100"/>
            <a:chOff x="0" y="0"/>
            <a:chExt cx="5486429" cy="812800"/>
          </a:xfrm>
        </p:grpSpPr>
        <p:sp>
          <p:nvSpPr>
            <p:cNvPr name="Freeform 32" id="32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3" id="33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4" id="34"/>
          <p:cNvSpPr txBox="true"/>
          <p:nvPr/>
        </p:nvSpPr>
        <p:spPr>
          <a:xfrm rot="0">
            <a:off x="6821908" y="466976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RECOMMENDER SYSTEM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2844320" y="3276481"/>
            <a:ext cx="10792884" cy="26779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73"/>
              </a:lnSpc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Why used</a:t>
            </a:r>
          </a:p>
          <a:p>
            <a:pPr algn="l" marL="672459" indent="-336229" lvl="1">
              <a:lnSpc>
                <a:spcPts val="4173"/>
              </a:lnSpc>
              <a:buFont typeface="Arial"/>
              <a:buChar char="•"/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ReLU → non-linearity</a:t>
            </a:r>
          </a:p>
          <a:p>
            <a:pPr algn="l" marL="672459" indent="-336229" lvl="1">
              <a:lnSpc>
                <a:spcPts val="4173"/>
              </a:lnSpc>
              <a:buFont typeface="Arial"/>
              <a:buChar char="•"/>
            </a:pPr>
            <a:r>
              <a:rPr lang="en-US" sz="3114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Sigmoid → probability</a:t>
            </a:r>
          </a:p>
          <a:p>
            <a:pPr algn="l">
              <a:lnSpc>
                <a:spcPts val="4173"/>
              </a:lnSpc>
            </a:pPr>
          </a:p>
          <a:p>
            <a:pPr algn="l">
              <a:lnSpc>
                <a:spcPts val="4173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559258" y="3295080"/>
            <a:ext cx="2700042" cy="5106463"/>
          </a:xfrm>
          <a:custGeom>
            <a:avLst/>
            <a:gdLst/>
            <a:ahLst/>
            <a:cxnLst/>
            <a:rect r="r" b="b" t="t" l="l"/>
            <a:pathLst>
              <a:path h="5106463" w="2700042">
                <a:moveTo>
                  <a:pt x="0" y="0"/>
                </a:moveTo>
                <a:lnTo>
                  <a:pt x="2700042" y="0"/>
                </a:lnTo>
                <a:lnTo>
                  <a:pt x="2700042" y="5106463"/>
                </a:lnTo>
                <a:lnTo>
                  <a:pt x="0" y="510646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-263427" y="7590375"/>
            <a:ext cx="4574135" cy="3018929"/>
          </a:xfrm>
          <a:custGeom>
            <a:avLst/>
            <a:gdLst/>
            <a:ahLst/>
            <a:cxnLst/>
            <a:rect r="r" b="b" t="t" l="l"/>
            <a:pathLst>
              <a:path h="3018929" w="4574135">
                <a:moveTo>
                  <a:pt x="0" y="0"/>
                </a:moveTo>
                <a:lnTo>
                  <a:pt x="4574135" y="0"/>
                </a:lnTo>
                <a:lnTo>
                  <a:pt x="4574135" y="3018929"/>
                </a:lnTo>
                <a:lnTo>
                  <a:pt x="0" y="301892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2047356" y="4441129"/>
            <a:ext cx="3512951" cy="989754"/>
            <a:chOff x="0" y="0"/>
            <a:chExt cx="862451" cy="24299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62451" cy="242991"/>
            </a:xfrm>
            <a:custGeom>
              <a:avLst/>
              <a:gdLst/>
              <a:ahLst/>
              <a:cxnLst/>
              <a:rect r="r" b="b" t="t" l="l"/>
              <a:pathLst>
                <a:path h="242991" w="862451">
                  <a:moveTo>
                    <a:pt x="121495" y="0"/>
                  </a:moveTo>
                  <a:lnTo>
                    <a:pt x="740955" y="0"/>
                  </a:lnTo>
                  <a:cubicBezTo>
                    <a:pt x="773178" y="0"/>
                    <a:pt x="804081" y="12800"/>
                    <a:pt x="826866" y="35585"/>
                  </a:cubicBezTo>
                  <a:cubicBezTo>
                    <a:pt x="849650" y="58370"/>
                    <a:pt x="862451" y="89273"/>
                    <a:pt x="862451" y="121495"/>
                  </a:cubicBezTo>
                  <a:lnTo>
                    <a:pt x="862451" y="121495"/>
                  </a:lnTo>
                  <a:cubicBezTo>
                    <a:pt x="862451" y="153718"/>
                    <a:pt x="849650" y="184621"/>
                    <a:pt x="826866" y="207406"/>
                  </a:cubicBezTo>
                  <a:cubicBezTo>
                    <a:pt x="804081" y="230190"/>
                    <a:pt x="773178" y="242991"/>
                    <a:pt x="7409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86245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047356" y="4441129"/>
            <a:ext cx="1081897" cy="989754"/>
            <a:chOff x="0" y="0"/>
            <a:chExt cx="265612" cy="242991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047356" y="7126333"/>
            <a:ext cx="3512951" cy="989754"/>
            <a:chOff x="0" y="0"/>
            <a:chExt cx="862451" cy="242991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62451" cy="242991"/>
            </a:xfrm>
            <a:custGeom>
              <a:avLst/>
              <a:gdLst/>
              <a:ahLst/>
              <a:cxnLst/>
              <a:rect r="r" b="b" t="t" l="l"/>
              <a:pathLst>
                <a:path h="242991" w="862451">
                  <a:moveTo>
                    <a:pt x="121495" y="0"/>
                  </a:moveTo>
                  <a:lnTo>
                    <a:pt x="740955" y="0"/>
                  </a:lnTo>
                  <a:cubicBezTo>
                    <a:pt x="773178" y="0"/>
                    <a:pt x="804081" y="12800"/>
                    <a:pt x="826866" y="35585"/>
                  </a:cubicBezTo>
                  <a:cubicBezTo>
                    <a:pt x="849650" y="58370"/>
                    <a:pt x="862451" y="89273"/>
                    <a:pt x="862451" y="121495"/>
                  </a:cubicBezTo>
                  <a:lnTo>
                    <a:pt x="862451" y="121495"/>
                  </a:lnTo>
                  <a:cubicBezTo>
                    <a:pt x="862451" y="153718"/>
                    <a:pt x="849650" y="184621"/>
                    <a:pt x="826866" y="207406"/>
                  </a:cubicBezTo>
                  <a:cubicBezTo>
                    <a:pt x="804081" y="230190"/>
                    <a:pt x="773178" y="242991"/>
                    <a:pt x="740955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862451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047356" y="7126333"/>
            <a:ext cx="1081897" cy="989754"/>
            <a:chOff x="0" y="0"/>
            <a:chExt cx="265612" cy="242991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17" id="17"/>
          <p:cNvSpPr/>
          <p:nvPr/>
        </p:nvSpPr>
        <p:spPr>
          <a:xfrm flipH="false" flipV="false" rot="0">
            <a:off x="6262267" y="5430883"/>
            <a:ext cx="8103030" cy="795833"/>
          </a:xfrm>
          <a:custGeom>
            <a:avLst/>
            <a:gdLst/>
            <a:ahLst/>
            <a:cxnLst/>
            <a:rect r="r" b="b" t="t" l="l"/>
            <a:pathLst>
              <a:path h="795833" w="8103030">
                <a:moveTo>
                  <a:pt x="0" y="0"/>
                </a:moveTo>
                <a:lnTo>
                  <a:pt x="8103030" y="0"/>
                </a:lnTo>
                <a:lnTo>
                  <a:pt x="8103030" y="795833"/>
                </a:lnTo>
                <a:lnTo>
                  <a:pt x="0" y="79583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18" id="18"/>
          <p:cNvGrpSpPr/>
          <p:nvPr/>
        </p:nvGrpSpPr>
        <p:grpSpPr>
          <a:xfrm rot="0">
            <a:off x="-488950" y="-1840703"/>
            <a:ext cx="20831283" cy="3086100"/>
            <a:chOff x="0" y="0"/>
            <a:chExt cx="5486429" cy="812800"/>
          </a:xfrm>
        </p:grpSpPr>
        <p:sp>
          <p:nvSpPr>
            <p:cNvPr name="Freeform 19" id="19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0" id="20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21" id="21"/>
          <p:cNvSpPr/>
          <p:nvPr/>
        </p:nvSpPr>
        <p:spPr>
          <a:xfrm flipH="false" flipV="false" rot="0">
            <a:off x="8842789" y="4441129"/>
            <a:ext cx="1470993" cy="580110"/>
          </a:xfrm>
          <a:custGeom>
            <a:avLst/>
            <a:gdLst/>
            <a:ahLst/>
            <a:cxnLst/>
            <a:rect r="r" b="b" t="t" l="l"/>
            <a:pathLst>
              <a:path h="580110" w="1470993">
                <a:moveTo>
                  <a:pt x="0" y="0"/>
                </a:moveTo>
                <a:lnTo>
                  <a:pt x="1470993" y="0"/>
                </a:lnTo>
                <a:lnTo>
                  <a:pt x="1470993" y="580110"/>
                </a:lnTo>
                <a:lnTo>
                  <a:pt x="0" y="580110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5596544" y="1767356"/>
            <a:ext cx="7561347" cy="89299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LOSS FUNCTION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879049" y="7153100"/>
            <a:ext cx="9728642" cy="176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criterion =</a:t>
            </a: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 nn.BCEWithLogitsLoss()</a:t>
            </a:r>
          </a:p>
          <a:p>
            <a:pPr algn="l">
              <a:lnSpc>
                <a:spcPts val="4110"/>
              </a:lnSpc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loss = criterion(logits, label)</a:t>
            </a:r>
          </a:p>
          <a:p>
            <a:pPr algn="l">
              <a:lnSpc>
                <a:spcPts val="5316"/>
              </a:lnSpc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3482744" y="4625806"/>
            <a:ext cx="4325931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Formul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 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3502662" y="7404063"/>
            <a:ext cx="2173187" cy="4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Code Snip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821908" y="466976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RECOMMENDER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2227056" y="2745661"/>
            <a:ext cx="9728642" cy="176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What is optimized</a:t>
            </a:r>
          </a:p>
          <a:p>
            <a:pPr algn="l" marL="662252" indent="-331126" lvl="1">
              <a:lnSpc>
                <a:spcPts val="4110"/>
              </a:lnSpc>
              <a:buFont typeface="Arial"/>
              <a:buChar char="•"/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Bina</a:t>
            </a: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ry interaction pred</a:t>
            </a: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iction</a:t>
            </a:r>
          </a:p>
          <a:p>
            <a:pPr algn="l">
              <a:lnSpc>
                <a:spcPts val="5316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126015" y="1336955"/>
            <a:ext cx="7269480" cy="8229600"/>
          </a:xfrm>
          <a:custGeom>
            <a:avLst/>
            <a:gdLst/>
            <a:ahLst/>
            <a:cxnLst/>
            <a:rect r="r" b="b" t="t" l="l"/>
            <a:pathLst>
              <a:path h="8229600" w="7269480">
                <a:moveTo>
                  <a:pt x="0" y="0"/>
                </a:moveTo>
                <a:lnTo>
                  <a:pt x="7269480" y="0"/>
                </a:lnTo>
                <a:lnTo>
                  <a:pt x="7269480" y="8229600"/>
                </a:lnTo>
                <a:lnTo>
                  <a:pt x="0" y="822960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496101" y="6002666"/>
            <a:ext cx="4478151" cy="989754"/>
            <a:chOff x="0" y="0"/>
            <a:chExt cx="1099413" cy="24299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099413" cy="242991"/>
            </a:xfrm>
            <a:custGeom>
              <a:avLst/>
              <a:gdLst/>
              <a:ahLst/>
              <a:cxnLst/>
              <a:rect r="r" b="b" t="t" l="l"/>
              <a:pathLst>
                <a:path h="242991" w="1099413">
                  <a:moveTo>
                    <a:pt x="121495" y="0"/>
                  </a:moveTo>
                  <a:lnTo>
                    <a:pt x="977918" y="0"/>
                  </a:lnTo>
                  <a:cubicBezTo>
                    <a:pt x="1010140" y="0"/>
                    <a:pt x="1041043" y="12800"/>
                    <a:pt x="1063828" y="35585"/>
                  </a:cubicBezTo>
                  <a:cubicBezTo>
                    <a:pt x="1086613" y="58370"/>
                    <a:pt x="1099413" y="89273"/>
                    <a:pt x="1099413" y="121495"/>
                  </a:cubicBezTo>
                  <a:lnTo>
                    <a:pt x="1099413" y="121495"/>
                  </a:lnTo>
                  <a:cubicBezTo>
                    <a:pt x="1099413" y="153718"/>
                    <a:pt x="1086613" y="184621"/>
                    <a:pt x="1063828" y="207406"/>
                  </a:cubicBezTo>
                  <a:cubicBezTo>
                    <a:pt x="1041043" y="230190"/>
                    <a:pt x="1010140" y="242991"/>
                    <a:pt x="977918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6" id="6"/>
            <p:cNvSpPr txBox="true"/>
            <p:nvPr/>
          </p:nvSpPr>
          <p:spPr>
            <a:xfrm>
              <a:off x="0" y="-28575"/>
              <a:ext cx="1099413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7" id="7"/>
          <p:cNvGrpSpPr/>
          <p:nvPr/>
        </p:nvGrpSpPr>
        <p:grpSpPr>
          <a:xfrm rot="0">
            <a:off x="496101" y="6002666"/>
            <a:ext cx="1081897" cy="989754"/>
            <a:chOff x="0" y="0"/>
            <a:chExt cx="265612" cy="24299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9" id="9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496101" y="7840145"/>
            <a:ext cx="4274951" cy="989754"/>
            <a:chOff x="0" y="0"/>
            <a:chExt cx="1049526" cy="242991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1049527" cy="242991"/>
            </a:xfrm>
            <a:custGeom>
              <a:avLst/>
              <a:gdLst/>
              <a:ahLst/>
              <a:cxnLst/>
              <a:rect r="r" b="b" t="t" l="l"/>
              <a:pathLst>
                <a:path h="242991" w="1049527">
                  <a:moveTo>
                    <a:pt x="121495" y="0"/>
                  </a:moveTo>
                  <a:lnTo>
                    <a:pt x="928031" y="0"/>
                  </a:lnTo>
                  <a:cubicBezTo>
                    <a:pt x="960254" y="0"/>
                    <a:pt x="991157" y="12800"/>
                    <a:pt x="1013941" y="35585"/>
                  </a:cubicBezTo>
                  <a:cubicBezTo>
                    <a:pt x="1036726" y="58370"/>
                    <a:pt x="1049527" y="89273"/>
                    <a:pt x="1049527" y="121495"/>
                  </a:cubicBezTo>
                  <a:lnTo>
                    <a:pt x="1049527" y="121495"/>
                  </a:lnTo>
                  <a:cubicBezTo>
                    <a:pt x="1049527" y="153718"/>
                    <a:pt x="1036726" y="184621"/>
                    <a:pt x="1013941" y="207406"/>
                  </a:cubicBezTo>
                  <a:cubicBezTo>
                    <a:pt x="991157" y="230190"/>
                    <a:pt x="960254" y="242991"/>
                    <a:pt x="928031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28575"/>
              <a:ext cx="1049526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3" id="13"/>
          <p:cNvGrpSpPr/>
          <p:nvPr/>
        </p:nvGrpSpPr>
        <p:grpSpPr>
          <a:xfrm rot="0">
            <a:off x="496101" y="7840145"/>
            <a:ext cx="1081897" cy="989754"/>
            <a:chOff x="0" y="0"/>
            <a:chExt cx="265612" cy="242991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5" id="15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16" id="16"/>
          <p:cNvSpPr/>
          <p:nvPr/>
        </p:nvSpPr>
        <p:spPr>
          <a:xfrm flipH="false" flipV="false" rot="0">
            <a:off x="6236722" y="6088680"/>
            <a:ext cx="3469813" cy="817727"/>
          </a:xfrm>
          <a:custGeom>
            <a:avLst/>
            <a:gdLst/>
            <a:ahLst/>
            <a:cxnLst/>
            <a:rect r="r" b="b" t="t" l="l"/>
            <a:pathLst>
              <a:path h="817727" w="3469813">
                <a:moveTo>
                  <a:pt x="0" y="0"/>
                </a:moveTo>
                <a:lnTo>
                  <a:pt x="3469813" y="0"/>
                </a:lnTo>
                <a:lnTo>
                  <a:pt x="3469813" y="817726"/>
                </a:lnTo>
                <a:lnTo>
                  <a:pt x="0" y="81772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37049" y="2042175"/>
            <a:ext cx="12523900" cy="8963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TRAINING &amp; RECOMMENDATION OUTPUT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778058" y="7706795"/>
            <a:ext cx="9728642" cy="1766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scores[s</a:t>
            </a: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een_items] = -1e9</a:t>
            </a:r>
          </a:p>
          <a:p>
            <a:pPr algn="l">
              <a:lnSpc>
                <a:spcPts val="4110"/>
              </a:lnSpc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top_items = torch.topk(scores, 5)</a:t>
            </a:r>
          </a:p>
          <a:p>
            <a:pPr algn="l">
              <a:lnSpc>
                <a:spcPts val="5316"/>
              </a:lnSpc>
            </a:pPr>
          </a:p>
        </p:txBody>
      </p:sp>
      <p:sp>
        <p:nvSpPr>
          <p:cNvPr name="TextBox 19" id="19"/>
          <p:cNvSpPr txBox="true"/>
          <p:nvPr/>
        </p:nvSpPr>
        <p:spPr>
          <a:xfrm rot="0">
            <a:off x="1931490" y="6187343"/>
            <a:ext cx="4325931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Gr</a:t>
            </a: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adient Descent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951408" y="8117875"/>
            <a:ext cx="2173187" cy="4416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78"/>
              </a:lnSpc>
            </a:pPr>
            <a:r>
              <a:rPr lang="en-US" sz="25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Code Snippet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-488950" y="-1840703"/>
            <a:ext cx="20831283" cy="3086100"/>
            <a:chOff x="0" y="0"/>
            <a:chExt cx="5486429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3" id="23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4" id="24"/>
          <p:cNvSpPr txBox="true"/>
          <p:nvPr/>
        </p:nvSpPr>
        <p:spPr>
          <a:xfrm rot="0">
            <a:off x="6821908" y="466976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RECOMMENDER SYSTEM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516800" y="3497157"/>
            <a:ext cx="11481242" cy="27949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Tra</a:t>
            </a: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ining</a:t>
            </a:r>
          </a:p>
          <a:p>
            <a:pPr algn="l" marL="662252" indent="-331126" lvl="1">
              <a:lnSpc>
                <a:spcPts val="4110"/>
              </a:lnSpc>
              <a:buFont typeface="Arial"/>
              <a:buChar char="•"/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Backpropagation</a:t>
            </a:r>
          </a:p>
          <a:p>
            <a:pPr algn="l" marL="662252" indent="-331126" lvl="1">
              <a:lnSpc>
                <a:spcPts val="4110"/>
              </a:lnSpc>
              <a:buFont typeface="Arial"/>
              <a:buChar char="•"/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Adam optimizer</a:t>
            </a:r>
          </a:p>
          <a:p>
            <a:pPr algn="l">
              <a:lnSpc>
                <a:spcPts val="4110"/>
              </a:lnSpc>
            </a:pPr>
          </a:p>
          <a:p>
            <a:pPr algn="l">
              <a:lnSpc>
                <a:spcPts val="5316"/>
              </a:lnSpc>
            </a:pPr>
          </a:p>
        </p:txBody>
      </p:sp>
      <p:sp>
        <p:nvSpPr>
          <p:cNvPr name="TextBox 26" id="26"/>
          <p:cNvSpPr txBox="true"/>
          <p:nvPr/>
        </p:nvSpPr>
        <p:spPr>
          <a:xfrm rot="0">
            <a:off x="5473944" y="3497157"/>
            <a:ext cx="11481242" cy="22806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110"/>
              </a:lnSpc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Recommendation</a:t>
            </a:r>
          </a:p>
          <a:p>
            <a:pPr algn="l" marL="662252" indent="-331126" lvl="1">
              <a:lnSpc>
                <a:spcPts val="4110"/>
              </a:lnSpc>
              <a:buFont typeface="Arial"/>
              <a:buChar char="•"/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Mask seen items</a:t>
            </a:r>
          </a:p>
          <a:p>
            <a:pPr algn="l" marL="662252" indent="-331126" lvl="1">
              <a:lnSpc>
                <a:spcPts val="4110"/>
              </a:lnSpc>
              <a:buFont typeface="Arial"/>
              <a:buChar char="•"/>
            </a:pPr>
            <a:r>
              <a:rPr lang="en-US" sz="3067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Top-K ranking</a:t>
            </a:r>
          </a:p>
          <a:p>
            <a:pPr algn="l">
              <a:lnSpc>
                <a:spcPts val="5316"/>
              </a:lnSpc>
            </a:pP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204" t="0" r="-2204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7888286" y="2337799"/>
            <a:ext cx="4144557" cy="989754"/>
            <a:chOff x="0" y="0"/>
            <a:chExt cx="1017514" cy="242991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5" id="5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7888286" y="2337799"/>
            <a:ext cx="1081897" cy="989754"/>
            <a:chOff x="0" y="0"/>
            <a:chExt cx="265612" cy="242991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8" id="8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9" id="9"/>
          <p:cNvGrpSpPr/>
          <p:nvPr/>
        </p:nvGrpSpPr>
        <p:grpSpPr>
          <a:xfrm rot="0">
            <a:off x="7888286" y="4648623"/>
            <a:ext cx="4144557" cy="989754"/>
            <a:chOff x="0" y="0"/>
            <a:chExt cx="1017514" cy="242991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7888286" y="4648623"/>
            <a:ext cx="1081897" cy="989754"/>
            <a:chOff x="0" y="0"/>
            <a:chExt cx="265612" cy="242991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14" id="14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Freeform 15" id="15"/>
          <p:cNvSpPr/>
          <p:nvPr/>
        </p:nvSpPr>
        <p:spPr>
          <a:xfrm flipH="false" flipV="false" rot="0">
            <a:off x="-1052485" y="912245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5594249" y="7200900"/>
            <a:ext cx="4162370" cy="4114800"/>
          </a:xfrm>
          <a:custGeom>
            <a:avLst/>
            <a:gdLst/>
            <a:ahLst/>
            <a:cxnLst/>
            <a:rect r="r" b="b" t="t" l="l"/>
            <a:pathLst>
              <a:path h="4114800" w="4162370">
                <a:moveTo>
                  <a:pt x="0" y="0"/>
                </a:moveTo>
                <a:lnTo>
                  <a:pt x="4162370" y="0"/>
                </a:lnTo>
                <a:lnTo>
                  <a:pt x="4162370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556970" y="3621940"/>
            <a:ext cx="5048616" cy="5048616"/>
          </a:xfrm>
          <a:custGeom>
            <a:avLst/>
            <a:gdLst/>
            <a:ahLst/>
            <a:cxnLst/>
            <a:rect r="r" b="b" t="t" l="l"/>
            <a:pathLst>
              <a:path h="5048616" w="5048616">
                <a:moveTo>
                  <a:pt x="0" y="0"/>
                </a:moveTo>
                <a:lnTo>
                  <a:pt x="5048616" y="0"/>
                </a:lnTo>
                <a:lnTo>
                  <a:pt x="5048616" y="5048616"/>
                </a:lnTo>
                <a:lnTo>
                  <a:pt x="0" y="504861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8" id="18"/>
          <p:cNvSpPr txBox="true"/>
          <p:nvPr/>
        </p:nvSpPr>
        <p:spPr>
          <a:xfrm rot="0">
            <a:off x="9323675" y="2512951"/>
            <a:ext cx="2173187" cy="54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28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Output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144000" y="4877642"/>
            <a:ext cx="2909787" cy="48409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54"/>
              </a:lnSpc>
            </a:pPr>
            <a:r>
              <a:rPr lang="en-US" sz="28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Code Snippet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679275" y="5865604"/>
            <a:ext cx="11222292" cy="10032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91"/>
              </a:lnSpc>
            </a:pPr>
            <a:r>
              <a:rPr lang="en-US" sz="28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print(recommended)</a:t>
            </a:r>
          </a:p>
          <a:p>
            <a:pPr algn="l">
              <a:lnSpc>
                <a:spcPts val="3791"/>
              </a:lnSpc>
            </a:pPr>
          </a:p>
        </p:txBody>
      </p:sp>
      <p:sp>
        <p:nvSpPr>
          <p:cNvPr name="TextBox 21" id="21"/>
          <p:cNvSpPr txBox="true"/>
          <p:nvPr/>
        </p:nvSpPr>
        <p:spPr>
          <a:xfrm rot="0">
            <a:off x="2305955" y="4864790"/>
            <a:ext cx="4077734" cy="2629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875"/>
              </a:lnSpc>
            </a:pPr>
            <a:r>
              <a:rPr lang="en-US" sz="6610">
                <a:solidFill>
                  <a:srgbClr val="050056"/>
                </a:solidFill>
                <a:latin typeface="Anton"/>
                <a:ea typeface="Anton"/>
                <a:cs typeface="Anton"/>
                <a:sym typeface="Anton"/>
              </a:rPr>
              <a:t>FINAL OUTPUT &amp; CONCLUSION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859841" y="9349953"/>
            <a:ext cx="7301877" cy="4877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40"/>
              </a:lnSpc>
            </a:pPr>
            <a:r>
              <a:rPr lang="en-US" sz="2567" b="true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This completes the recommender syste</a:t>
            </a:r>
            <a:r>
              <a:rPr lang="en-US" b="true" sz="2567">
                <a:solidFill>
                  <a:srgbClr val="050056"/>
                </a:solidFill>
                <a:latin typeface="Agrandir Bold"/>
                <a:ea typeface="Agrandir Bold"/>
                <a:cs typeface="Agrandir Bold"/>
                <a:sym typeface="Agrandir Bold"/>
              </a:rPr>
              <a:t>m</a:t>
            </a:r>
          </a:p>
        </p:txBody>
      </p:sp>
      <p:grpSp>
        <p:nvGrpSpPr>
          <p:cNvPr name="Group 23" id="23"/>
          <p:cNvGrpSpPr/>
          <p:nvPr/>
        </p:nvGrpSpPr>
        <p:grpSpPr>
          <a:xfrm rot="0">
            <a:off x="-460375" y="-1840703"/>
            <a:ext cx="20831283" cy="3086100"/>
            <a:chOff x="0" y="0"/>
            <a:chExt cx="5486429" cy="812800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486429" cy="812800"/>
            </a:xfrm>
            <a:custGeom>
              <a:avLst/>
              <a:gdLst/>
              <a:ahLst/>
              <a:cxnLst/>
              <a:rect r="r" b="b" t="t" l="l"/>
              <a:pathLst>
                <a:path h="812800" w="5486429">
                  <a:moveTo>
                    <a:pt x="0" y="0"/>
                  </a:moveTo>
                  <a:lnTo>
                    <a:pt x="5486429" y="0"/>
                  </a:lnTo>
                  <a:lnTo>
                    <a:pt x="5486429" y="812800"/>
                  </a:lnTo>
                  <a:lnTo>
                    <a:pt x="0" y="812800"/>
                  </a:ln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5486429" cy="8413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26" id="26"/>
          <p:cNvSpPr txBox="true"/>
          <p:nvPr/>
        </p:nvSpPr>
        <p:spPr>
          <a:xfrm rot="0">
            <a:off x="6850483" y="466976"/>
            <a:ext cx="4392657" cy="336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126"/>
              </a:lnSpc>
              <a:spcBef>
                <a:spcPct val="0"/>
              </a:spcBef>
            </a:pPr>
            <a:r>
              <a:rPr lang="en-US" b="true" sz="2045">
                <a:solidFill>
                  <a:srgbClr val="FFFFFF"/>
                </a:solidFill>
                <a:latin typeface="Agrandir Bold"/>
                <a:ea typeface="Agrandir Bold"/>
                <a:cs typeface="Agrandir Bold"/>
                <a:sym typeface="Agrandir Bold"/>
              </a:rPr>
              <a:t>RECOMMENDER SYSTEM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9510780" y="3378101"/>
            <a:ext cx="11222292" cy="1477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829" indent="-305415" lvl="1">
              <a:lnSpc>
                <a:spcPts val="3791"/>
              </a:lnSpc>
              <a:buFont typeface="Arial"/>
              <a:buChar char="•"/>
            </a:pPr>
            <a:r>
              <a:rPr lang="en-US" sz="28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Ranked </a:t>
            </a:r>
            <a:r>
              <a:rPr lang="en-US" sz="28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item list per user</a:t>
            </a:r>
          </a:p>
          <a:p>
            <a:pPr algn="l" marL="610829" indent="-305415" lvl="1">
              <a:lnSpc>
                <a:spcPts val="3791"/>
              </a:lnSpc>
              <a:buFont typeface="Arial"/>
              <a:buChar char="•"/>
            </a:pPr>
            <a:r>
              <a:rPr lang="en-US" sz="28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Learned user preferences</a:t>
            </a:r>
          </a:p>
          <a:p>
            <a:pPr algn="l">
              <a:lnSpc>
                <a:spcPts val="3791"/>
              </a:lnSpc>
            </a:pPr>
          </a:p>
        </p:txBody>
      </p:sp>
      <p:sp>
        <p:nvSpPr>
          <p:cNvPr name="TextBox 28" id="28"/>
          <p:cNvSpPr txBox="true"/>
          <p:nvPr/>
        </p:nvSpPr>
        <p:spPr>
          <a:xfrm rot="0">
            <a:off x="9144000" y="7642109"/>
            <a:ext cx="11222292" cy="19521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10829" indent="-305415" lvl="1">
              <a:lnSpc>
                <a:spcPts val="3791"/>
              </a:lnSpc>
              <a:buFont typeface="Arial"/>
              <a:buChar char="•"/>
            </a:pPr>
            <a:r>
              <a:rPr lang="en-US" sz="28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Fully functional Neural RS</a:t>
            </a:r>
          </a:p>
          <a:p>
            <a:pPr algn="l" marL="610829" indent="-305415" lvl="1">
              <a:lnSpc>
                <a:spcPts val="3791"/>
              </a:lnSpc>
              <a:buFont typeface="Arial"/>
              <a:buChar char="•"/>
            </a:pPr>
            <a:r>
              <a:rPr lang="en-US" sz="28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Learns non-linear interactions</a:t>
            </a:r>
          </a:p>
          <a:p>
            <a:pPr algn="l" marL="610829" indent="-305415" lvl="1">
              <a:lnSpc>
                <a:spcPts val="3791"/>
              </a:lnSpc>
              <a:buFont typeface="Arial"/>
              <a:buChar char="•"/>
            </a:pPr>
            <a:r>
              <a:rPr lang="en-US" sz="28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End-to-end im</a:t>
            </a:r>
            <a:r>
              <a:rPr lang="en-US" sz="2829">
                <a:solidFill>
                  <a:srgbClr val="050056"/>
                </a:solidFill>
                <a:latin typeface="Agrandir"/>
                <a:ea typeface="Agrandir"/>
                <a:cs typeface="Agrandir"/>
                <a:sym typeface="Agrandir"/>
              </a:rPr>
              <a:t>plementation.</a:t>
            </a:r>
          </a:p>
          <a:p>
            <a:pPr algn="l">
              <a:lnSpc>
                <a:spcPts val="3791"/>
              </a:lnSpc>
            </a:pPr>
          </a:p>
        </p:txBody>
      </p:sp>
      <p:grpSp>
        <p:nvGrpSpPr>
          <p:cNvPr name="Group 29" id="29"/>
          <p:cNvGrpSpPr/>
          <p:nvPr/>
        </p:nvGrpSpPr>
        <p:grpSpPr>
          <a:xfrm rot="0">
            <a:off x="7888286" y="6504915"/>
            <a:ext cx="4144557" cy="989754"/>
            <a:chOff x="0" y="0"/>
            <a:chExt cx="1017514" cy="242991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1017514" cy="242991"/>
            </a:xfrm>
            <a:custGeom>
              <a:avLst/>
              <a:gdLst/>
              <a:ahLst/>
              <a:cxnLst/>
              <a:rect r="r" b="b" t="t" l="l"/>
              <a:pathLst>
                <a:path h="242991" w="1017514">
                  <a:moveTo>
                    <a:pt x="121495" y="0"/>
                  </a:moveTo>
                  <a:lnTo>
                    <a:pt x="896019" y="0"/>
                  </a:lnTo>
                  <a:cubicBezTo>
                    <a:pt x="928241" y="0"/>
                    <a:pt x="959144" y="12800"/>
                    <a:pt x="981929" y="35585"/>
                  </a:cubicBezTo>
                  <a:cubicBezTo>
                    <a:pt x="1004714" y="58370"/>
                    <a:pt x="1017514" y="89273"/>
                    <a:pt x="1017514" y="121495"/>
                  </a:cubicBezTo>
                  <a:lnTo>
                    <a:pt x="1017514" y="121495"/>
                  </a:lnTo>
                  <a:cubicBezTo>
                    <a:pt x="1017514" y="153718"/>
                    <a:pt x="1004714" y="184621"/>
                    <a:pt x="981929" y="207406"/>
                  </a:cubicBezTo>
                  <a:cubicBezTo>
                    <a:pt x="959144" y="230190"/>
                    <a:pt x="928241" y="242991"/>
                    <a:pt x="896019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C2756">
                    <a:alpha val="100000"/>
                  </a:srgbClr>
                </a:gs>
                <a:gs pos="100000">
                  <a:srgbClr val="1E527D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1017514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7888286" y="6504915"/>
            <a:ext cx="1081897" cy="989754"/>
            <a:chOff x="0" y="0"/>
            <a:chExt cx="265612" cy="242991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265612" cy="242991"/>
            </a:xfrm>
            <a:custGeom>
              <a:avLst/>
              <a:gdLst/>
              <a:ahLst/>
              <a:cxnLst/>
              <a:rect r="r" b="b" t="t" l="l"/>
              <a:pathLst>
                <a:path h="242991" w="265612">
                  <a:moveTo>
                    <a:pt x="121495" y="0"/>
                  </a:moveTo>
                  <a:lnTo>
                    <a:pt x="144117" y="0"/>
                  </a:lnTo>
                  <a:cubicBezTo>
                    <a:pt x="211217" y="0"/>
                    <a:pt x="265612" y="54395"/>
                    <a:pt x="265612" y="121495"/>
                  </a:cubicBezTo>
                  <a:lnTo>
                    <a:pt x="265612" y="121495"/>
                  </a:lnTo>
                  <a:cubicBezTo>
                    <a:pt x="265612" y="153718"/>
                    <a:pt x="252812" y="184621"/>
                    <a:pt x="230027" y="207406"/>
                  </a:cubicBezTo>
                  <a:cubicBezTo>
                    <a:pt x="207242" y="230190"/>
                    <a:pt x="176340" y="242991"/>
                    <a:pt x="144117" y="242991"/>
                  </a:cubicBezTo>
                  <a:lnTo>
                    <a:pt x="121495" y="242991"/>
                  </a:lnTo>
                  <a:cubicBezTo>
                    <a:pt x="89273" y="242991"/>
                    <a:pt x="58370" y="230190"/>
                    <a:pt x="35585" y="207406"/>
                  </a:cubicBezTo>
                  <a:cubicBezTo>
                    <a:pt x="12800" y="184621"/>
                    <a:pt x="0" y="153718"/>
                    <a:pt x="0" y="121495"/>
                  </a:cubicBezTo>
                  <a:lnTo>
                    <a:pt x="0" y="121495"/>
                  </a:lnTo>
                  <a:cubicBezTo>
                    <a:pt x="0" y="89273"/>
                    <a:pt x="12800" y="58370"/>
                    <a:pt x="35585" y="35585"/>
                  </a:cubicBezTo>
                  <a:cubicBezTo>
                    <a:pt x="58370" y="12800"/>
                    <a:pt x="89273" y="0"/>
                    <a:pt x="121495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00B3FF">
                    <a:alpha val="100000"/>
                  </a:srgbClr>
                </a:gs>
                <a:gs pos="100000">
                  <a:srgbClr val="3A459B">
                    <a:alpha val="100000"/>
                  </a:srgbClr>
                </a:gs>
              </a:gsLst>
              <a:lin ang="0"/>
            </a:gra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265612" cy="2715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9323675" y="6680068"/>
            <a:ext cx="2173187" cy="54909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842"/>
              </a:lnSpc>
            </a:pPr>
            <a:r>
              <a:rPr lang="en-US" sz="2867">
                <a:solidFill>
                  <a:srgbClr val="FFFFFF"/>
                </a:solidFill>
                <a:latin typeface="Agrandir"/>
                <a:ea typeface="Agrandir"/>
                <a:cs typeface="Agrandir"/>
                <a:sym typeface="Agrandir"/>
              </a:rPr>
              <a:t>Connclusion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gradFill rotWithShape="true">
          <a:gsLst>
            <a:gs pos="0">
              <a:srgbClr val="0C2756">
                <a:alpha val="100000"/>
              </a:srgbClr>
            </a:gs>
            <a:gs pos="100000">
              <a:srgbClr val="1E527D">
                <a:alpha val="100000"/>
              </a:srgbClr>
            </a:gs>
          </a:gsLst>
          <a:lin ang="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558578" y="-1201787"/>
            <a:ext cx="13008829" cy="13008829"/>
            <a:chOff x="0" y="0"/>
            <a:chExt cx="812800" cy="8128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true">
              <a:gsLst>
                <a:gs pos="0">
                  <a:srgbClr val="9B9B9B">
                    <a:alpha val="0"/>
                  </a:srgbClr>
                </a:gs>
                <a:gs pos="100000">
                  <a:srgbClr val="FFFFFF">
                    <a:alpha val="77000"/>
                  </a:srgbClr>
                </a:gs>
              </a:gsLst>
              <a:lin ang="0"/>
            </a:gradFill>
          </p:spPr>
        </p:sp>
        <p:sp>
          <p:nvSpPr>
            <p:cNvPr name="TextBox 4" id="4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126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7160363" y="4567540"/>
            <a:ext cx="4444042" cy="1470176"/>
            <a:chOff x="0" y="0"/>
            <a:chExt cx="2328462" cy="77030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2328463" cy="770301"/>
            </a:xfrm>
            <a:custGeom>
              <a:avLst/>
              <a:gdLst/>
              <a:ahLst/>
              <a:cxnLst/>
              <a:rect r="r" b="b" t="t" l="l"/>
              <a:pathLst>
                <a:path h="770301" w="2328463">
                  <a:moveTo>
                    <a:pt x="40068" y="0"/>
                  </a:moveTo>
                  <a:lnTo>
                    <a:pt x="2288394" y="0"/>
                  </a:lnTo>
                  <a:cubicBezTo>
                    <a:pt x="2310524" y="0"/>
                    <a:pt x="2328463" y="17939"/>
                    <a:pt x="2328463" y="40068"/>
                  </a:cubicBezTo>
                  <a:lnTo>
                    <a:pt x="2328463" y="730233"/>
                  </a:lnTo>
                  <a:cubicBezTo>
                    <a:pt x="2328463" y="752362"/>
                    <a:pt x="2310524" y="770301"/>
                    <a:pt x="2288394" y="770301"/>
                  </a:cubicBezTo>
                  <a:lnTo>
                    <a:pt x="40068" y="770301"/>
                  </a:lnTo>
                  <a:cubicBezTo>
                    <a:pt x="17939" y="770301"/>
                    <a:pt x="0" y="752362"/>
                    <a:pt x="0" y="730233"/>
                  </a:cubicBezTo>
                  <a:lnTo>
                    <a:pt x="0" y="40068"/>
                  </a:lnTo>
                  <a:cubicBezTo>
                    <a:pt x="0" y="17939"/>
                    <a:pt x="17939" y="0"/>
                    <a:pt x="40068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35016" r="0" b="-35016"/>
              </a:stretch>
            </a:blipFill>
            <a:ln w="38100" cap="rnd">
              <a:solidFill>
                <a:srgbClr val="000000"/>
              </a:solidFill>
              <a:prstDash val="solid"/>
              <a:round/>
            </a:ln>
          </p:spPr>
        </p:sp>
      </p:grpSp>
      <p:sp>
        <p:nvSpPr>
          <p:cNvPr name="Freeform 7" id="7"/>
          <p:cNvSpPr/>
          <p:nvPr/>
        </p:nvSpPr>
        <p:spPr>
          <a:xfrm flipH="false" flipV="false" rot="0">
            <a:off x="11778498" y="1627401"/>
            <a:ext cx="5933577" cy="7350452"/>
          </a:xfrm>
          <a:custGeom>
            <a:avLst/>
            <a:gdLst/>
            <a:ahLst/>
            <a:cxnLst/>
            <a:rect r="r" b="b" t="t" l="l"/>
            <a:pathLst>
              <a:path h="7350452" w="5933577">
                <a:moveTo>
                  <a:pt x="0" y="0"/>
                </a:moveTo>
                <a:lnTo>
                  <a:pt x="5933577" y="0"/>
                </a:lnTo>
                <a:lnTo>
                  <a:pt x="5933577" y="7350452"/>
                </a:lnTo>
                <a:lnTo>
                  <a:pt x="0" y="7350452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46963" y="1737942"/>
            <a:ext cx="10731668" cy="42559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6415"/>
              </a:lnSpc>
            </a:pPr>
            <a:r>
              <a:rPr lang="en-US" sz="157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THANK </a:t>
            </a:r>
          </a:p>
          <a:p>
            <a:pPr algn="l">
              <a:lnSpc>
                <a:spcPts val="16415"/>
              </a:lnSpc>
            </a:pPr>
            <a:r>
              <a:rPr lang="en-US" sz="15784">
                <a:solidFill>
                  <a:srgbClr val="FFFFFF"/>
                </a:solidFill>
                <a:latin typeface="Anton"/>
                <a:ea typeface="Anton"/>
                <a:cs typeface="Anton"/>
                <a:sym typeface="Anton"/>
              </a:rPr>
              <a:t>YOU.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DAG78jRAbnc</dc:identifier>
  <dcterms:modified xsi:type="dcterms:W3CDTF">2011-08-01T06:04:30Z</dcterms:modified>
  <cp:revision>1</cp:revision>
  <dc:title>Blue Futuristic Artificial Intelligence Presentation</dc:title>
</cp:coreProperties>
</file>